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7" r:id="rId7"/>
    <p:sldId id="261" r:id="rId8"/>
    <p:sldId id="262" r:id="rId9"/>
    <p:sldId id="263" r:id="rId10"/>
    <p:sldId id="265" r:id="rId11"/>
    <p:sldId id="266" r:id="rId12"/>
  </p:sldIdLst>
  <p:sldSz cx="14630400" cy="8229600"/>
  <p:notesSz cx="8229600" cy="14630400"/>
  <p:embeddedFontLst>
    <p:embeddedFont>
      <p:font typeface="Calibri" panose="020F0502020204030204" pitchFamily="34" charset="0"/>
      <p:regular r:id="rId14"/>
      <p:bold r:id="rId15"/>
      <p:italic r:id="rId16"/>
      <p:boldItalic r:id="rId17"/>
    </p:embeddedFont>
    <p:embeddedFont>
      <p:font typeface="Instrument Sans Medium" pitchFamily="2" charset="0"/>
      <p:regular r:id="rId18"/>
    </p:embeddedFont>
    <p:embeddedFont>
      <p:font typeface="Instrument Sans Semi Bold" pitchFamily="2"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6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18" Type="http://schemas.openxmlformats.org/officeDocument/2006/relationships/font" Target="fonts/font5.fntdata"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4.fntdata" /><Relationship Id="rId2" Type="http://schemas.openxmlformats.org/officeDocument/2006/relationships/slide" Target="slides/slide1.xml" /><Relationship Id="rId16" Type="http://schemas.openxmlformats.org/officeDocument/2006/relationships/font" Target="fonts/font3.fntdata"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font" Target="fonts/font2.fntdata"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font" Target="fonts/font6.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1.fntdata" /><Relationship Id="rId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082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31987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96131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xml" /><Relationship Id="rId1" Type="http://schemas.openxmlformats.org/officeDocument/2006/relationships/slideLayout" Target="../slideLayouts/slideLayout2.xml" /><Relationship Id="rId4" Type="http://schemas.openxmlformats.org/officeDocument/2006/relationships/image" Target="../media/image4.png" /></Relationships>
</file>

<file path=ppt/slides/_rels/slide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2.xml" /><Relationship Id="rId1" Type="http://schemas.openxmlformats.org/officeDocument/2006/relationships/slideLayout" Target="../slideLayouts/slideLayout3.xml" /><Relationship Id="rId4" Type="http://schemas.openxmlformats.org/officeDocument/2006/relationships/image" Target="../media/image4.png" /></Relationships>
</file>

<file path=ppt/slides/_rels/slide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3.xml" /><Relationship Id="rId1" Type="http://schemas.openxmlformats.org/officeDocument/2006/relationships/slideLayout" Target="../slideLayouts/slideLayout4.xml" /><Relationship Id="rId4" Type="http://schemas.openxmlformats.org/officeDocument/2006/relationships/image" Target="../media/image4.png" /></Relationships>
</file>

<file path=ppt/slides/_rels/slide4.xml.rels><?xml version="1.0" encoding="UTF-8" standalone="yes"?>
<Relationships xmlns="http://schemas.openxmlformats.org/package/2006/relationships"><Relationship Id="rId8" Type="http://schemas.openxmlformats.org/officeDocument/2006/relationships/image" Target="../media/image12.png" /><Relationship Id="rId3" Type="http://schemas.openxmlformats.org/officeDocument/2006/relationships/image" Target="../media/image7.png" /><Relationship Id="rId7" Type="http://schemas.openxmlformats.org/officeDocument/2006/relationships/image" Target="../media/image11.png" /><Relationship Id="rId2" Type="http://schemas.openxmlformats.org/officeDocument/2006/relationships/notesSlide" Target="../notesSlides/notesSlide4.xml" /><Relationship Id="rId1" Type="http://schemas.openxmlformats.org/officeDocument/2006/relationships/slideLayout" Target="../slideLayouts/slideLayout5.xml" /><Relationship Id="rId6" Type="http://schemas.openxmlformats.org/officeDocument/2006/relationships/image" Target="../media/image10.png" /><Relationship Id="rId11" Type="http://schemas.openxmlformats.org/officeDocument/2006/relationships/image" Target="../media/image4.png" /><Relationship Id="rId5" Type="http://schemas.openxmlformats.org/officeDocument/2006/relationships/image" Target="../media/image9.png" /><Relationship Id="rId10" Type="http://schemas.openxmlformats.org/officeDocument/2006/relationships/image" Target="../media/image14.png" /><Relationship Id="rId4" Type="http://schemas.openxmlformats.org/officeDocument/2006/relationships/image" Target="../media/image8.png" /><Relationship Id="rId9" Type="http://schemas.openxmlformats.org/officeDocument/2006/relationships/image" Target="../media/image13.png" /></Relationships>
</file>

<file path=ppt/slides/_rels/slide5.xml.rels><?xml version="1.0" encoding="UTF-8" standalone="yes"?>
<Relationships xmlns="http://schemas.openxmlformats.org/package/2006/relationships"><Relationship Id="rId8" Type="http://schemas.openxmlformats.org/officeDocument/2006/relationships/image" Target="../media/image4.png" /><Relationship Id="rId3" Type="http://schemas.openxmlformats.org/officeDocument/2006/relationships/image" Target="../media/image15.png" /><Relationship Id="rId7" Type="http://schemas.openxmlformats.org/officeDocument/2006/relationships/image" Target="../media/image19.png" /><Relationship Id="rId2" Type="http://schemas.openxmlformats.org/officeDocument/2006/relationships/notesSlide" Target="../notesSlides/notesSlide5.xml" /><Relationship Id="rId1" Type="http://schemas.openxmlformats.org/officeDocument/2006/relationships/slideLayout" Target="../slideLayouts/slideLayout6.xml" /><Relationship Id="rId6" Type="http://schemas.openxmlformats.org/officeDocument/2006/relationships/image" Target="../media/image18.png" /><Relationship Id="rId5" Type="http://schemas.openxmlformats.org/officeDocument/2006/relationships/image" Target="../media/image17.png" /><Relationship Id="rId4" Type="http://schemas.openxmlformats.org/officeDocument/2006/relationships/image" Target="../media/image16.png" /></Relationships>
</file>

<file path=ppt/slides/_rels/slide6.xml.rels><?xml version="1.0" encoding="UTF-8" standalone="yes"?>
<Relationships xmlns="http://schemas.openxmlformats.org/package/2006/relationships"><Relationship Id="rId8" Type="http://schemas.openxmlformats.org/officeDocument/2006/relationships/image" Target="../media/image4.png" /><Relationship Id="rId3" Type="http://schemas.openxmlformats.org/officeDocument/2006/relationships/image" Target="../media/image20.png" /><Relationship Id="rId7" Type="http://schemas.openxmlformats.org/officeDocument/2006/relationships/image" Target="../media/image19.png" /><Relationship Id="rId2" Type="http://schemas.openxmlformats.org/officeDocument/2006/relationships/notesSlide" Target="../notesSlides/notesSlide6.xml" /><Relationship Id="rId1" Type="http://schemas.openxmlformats.org/officeDocument/2006/relationships/slideLayout" Target="../slideLayouts/slideLayout6.xml" /><Relationship Id="rId6" Type="http://schemas.openxmlformats.org/officeDocument/2006/relationships/image" Target="../media/image18.png" /><Relationship Id="rId5" Type="http://schemas.openxmlformats.org/officeDocument/2006/relationships/image" Target="../media/image17.png" /><Relationship Id="rId4" Type="http://schemas.openxmlformats.org/officeDocument/2006/relationships/image" Target="../media/image16.png" /></Relationships>
</file>

<file path=ppt/slides/_rels/slide7.xml.rels><?xml version="1.0" encoding="UTF-8" standalone="yes"?>
<Relationships xmlns="http://schemas.openxmlformats.org/package/2006/relationships"><Relationship Id="rId8" Type="http://schemas.openxmlformats.org/officeDocument/2006/relationships/image" Target="../media/image4.png" /><Relationship Id="rId3" Type="http://schemas.openxmlformats.org/officeDocument/2006/relationships/image" Target="../media/image21.png" /><Relationship Id="rId7" Type="http://schemas.openxmlformats.org/officeDocument/2006/relationships/image" Target="../media/image25.png" /><Relationship Id="rId2" Type="http://schemas.openxmlformats.org/officeDocument/2006/relationships/notesSlide" Target="../notesSlides/notesSlide7.xml" /><Relationship Id="rId1" Type="http://schemas.openxmlformats.org/officeDocument/2006/relationships/slideLayout" Target="../slideLayouts/slideLayout7.xml" /><Relationship Id="rId6" Type="http://schemas.openxmlformats.org/officeDocument/2006/relationships/image" Target="../media/image24.png" /><Relationship Id="rId5" Type="http://schemas.openxmlformats.org/officeDocument/2006/relationships/image" Target="../media/image23.png" /><Relationship Id="rId4" Type="http://schemas.openxmlformats.org/officeDocument/2006/relationships/image" Target="../media/image22.png" /></Relationships>
</file>

<file path=ppt/slides/_rels/slide8.xml.rels><?xml version="1.0" encoding="UTF-8" standalone="yes"?>
<Relationships xmlns="http://schemas.openxmlformats.org/package/2006/relationships"><Relationship Id="rId8" Type="http://schemas.openxmlformats.org/officeDocument/2006/relationships/image" Target="../media/image4.png" /><Relationship Id="rId3" Type="http://schemas.openxmlformats.org/officeDocument/2006/relationships/image" Target="../media/image26.png" /><Relationship Id="rId7" Type="http://schemas.openxmlformats.org/officeDocument/2006/relationships/image" Target="../media/image30.png" /><Relationship Id="rId2" Type="http://schemas.openxmlformats.org/officeDocument/2006/relationships/notesSlide" Target="../notesSlides/notesSlide8.xml" /><Relationship Id="rId1" Type="http://schemas.openxmlformats.org/officeDocument/2006/relationships/slideLayout" Target="../slideLayouts/slideLayout8.xml" /><Relationship Id="rId6" Type="http://schemas.openxmlformats.org/officeDocument/2006/relationships/image" Target="../media/image29.png" /><Relationship Id="rId5" Type="http://schemas.openxmlformats.org/officeDocument/2006/relationships/image" Target="../media/image28.png" /><Relationship Id="rId4" Type="http://schemas.openxmlformats.org/officeDocument/2006/relationships/image" Target="../media/image27.png" /></Relationships>
</file>

<file path=ppt/slides/_rels/slide9.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notesSlide" Target="../notesSlides/notesSlide9.xml" /><Relationship Id="rId1" Type="http://schemas.openxmlformats.org/officeDocument/2006/relationships/slideLayout" Target="../slideLayouts/slideLayout9.xml" /><Relationship Id="rId4" Type="http://schemas.openxmlformats.org/officeDocument/2006/relationships/image" Target="../media/image4.png" /></Relationships>
</file>

<file path=ppt/slides/_rels/slide10.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0.xml" /><Relationship Id="rId1" Type="http://schemas.openxmlformats.org/officeDocument/2006/relationships/slideLayout" Target="../slideLayouts/slideLayout11.xml" /></Relationships>
</file>

<file path=ppt/slides/_rels/slide1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1.xml" /><Relationship Id="rId1" Type="http://schemas.openxmlformats.org/officeDocument/2006/relationships/slideLayout" Target="../slideLayouts/slideLayout11.xml" /><Relationship Id="rId4" Type="http://schemas.openxmlformats.org/officeDocument/2006/relationships/image" Target="../media/image32.png"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954530"/>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Automated Library Assistant</a:t>
            </a:r>
            <a:endParaRPr lang="en-US" sz="4450" dirty="0"/>
          </a:p>
        </p:txBody>
      </p:sp>
      <p:sp>
        <p:nvSpPr>
          <p:cNvPr id="4" name="Text 1"/>
          <p:cNvSpPr/>
          <p:nvPr/>
        </p:nvSpPr>
        <p:spPr>
          <a:xfrm>
            <a:off x="6280190" y="3712250"/>
            <a:ext cx="7556421" cy="1133951"/>
          </a:xfrm>
          <a:prstGeom prst="rect">
            <a:avLst/>
          </a:prstGeom>
          <a:noFill/>
          <a:ln/>
        </p:spPr>
        <p:txBody>
          <a:bodyPr wrap="square" lIns="0" tIns="0" rIns="0" bIns="0" rtlCol="0" anchor="t"/>
          <a:lstStyle/>
          <a:p>
            <a:pPr marL="0" indent="0" algn="l">
              <a:lnSpc>
                <a:spcPts val="4450"/>
              </a:lnSpc>
              <a:buNone/>
            </a:pPr>
            <a:r>
              <a:rPr lang="en-US" sz="3550" dirty="0">
                <a:solidFill>
                  <a:srgbClr val="505468"/>
                </a:solidFill>
                <a:latin typeface="Instrument Sans Semi Bold" pitchFamily="34" charset="0"/>
                <a:ea typeface="Instrument Sans Semi Bold" pitchFamily="34" charset="-122"/>
                <a:cs typeface="Instrument Sans Semi Bold" pitchFamily="34" charset="-120"/>
              </a:rPr>
              <a:t>An IoT and Machine Learning Integrated System</a:t>
            </a:r>
            <a:endParaRPr lang="en-US" sz="3550" dirty="0"/>
          </a:p>
        </p:txBody>
      </p:sp>
      <p:sp>
        <p:nvSpPr>
          <p:cNvPr id="5" name="Text 2"/>
          <p:cNvSpPr/>
          <p:nvPr/>
        </p:nvSpPr>
        <p:spPr>
          <a:xfrm>
            <a:off x="6280190" y="5186363"/>
            <a:ext cx="7556421" cy="1088708"/>
          </a:xfrm>
          <a:prstGeom prst="rect">
            <a:avLst/>
          </a:prstGeom>
          <a:noFill/>
          <a:ln/>
        </p:spPr>
        <p:txBody>
          <a:bodyPr wrap="square" lIns="0" tIns="0" rIns="0" bIns="0" rtlCol="0" anchor="t"/>
          <a:lstStyle/>
          <a:p>
            <a:pPr marL="0" indent="0" algn="ctr">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Presented By: Sarbjot Singh &amp; </a:t>
            </a:r>
            <a:r>
              <a:rPr lang="en-US" sz="1750" dirty="0" err="1">
                <a:solidFill>
                  <a:srgbClr val="5B5F71"/>
                </a:solidFill>
                <a:latin typeface="Instrument Sans Medium" pitchFamily="34" charset="0"/>
                <a:ea typeface="Instrument Sans Medium" pitchFamily="34" charset="-122"/>
                <a:cs typeface="Instrument Sans Medium" pitchFamily="34" charset="-120"/>
              </a:rPr>
              <a:t>Munish</a:t>
            </a:r>
            <a:r>
              <a:rPr lang="en-US" sz="1750" dirty="0">
                <a:solidFill>
                  <a:srgbClr val="5B5F71"/>
                </a:solidFill>
                <a:latin typeface="Instrument Sans Medium" pitchFamily="34" charset="0"/>
                <a:ea typeface="Instrument Sans Medium" pitchFamily="34" charset="-122"/>
                <a:cs typeface="Instrument Sans Medium" pitchFamily="34" charset="-120"/>
              </a:rPr>
              <a:t> Kumar</a:t>
            </a:r>
          </a:p>
          <a:p>
            <a:pPr marL="0" indent="0" algn="ctr">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University Roll No: 2233367 &amp; 2233361</a:t>
            </a:r>
          </a:p>
          <a:p>
            <a:pPr marL="0" indent="0" algn="ctr">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For: Bachelor of Technology in Data Science</a:t>
            </a:r>
            <a:endParaRPr lang="en-US" sz="1750" dirty="0"/>
          </a:p>
        </p:txBody>
      </p:sp>
      <p:pic>
        <p:nvPicPr>
          <p:cNvPr id="7" name="Picture 6">
            <a:extLst>
              <a:ext uri="{FF2B5EF4-FFF2-40B4-BE49-F238E27FC236}">
                <a16:creationId xmlns:a16="http://schemas.microsoft.com/office/drawing/2014/main" id="{A444B127-639D-4598-A197-3A7C93FE6116}"/>
              </a:ext>
            </a:extLst>
          </p:cNvPr>
          <p:cNvPicPr>
            <a:picLocks noChangeAspect="1"/>
          </p:cNvPicPr>
          <p:nvPr/>
        </p:nvPicPr>
        <p:blipFill>
          <a:blip r:embed="rId4"/>
          <a:stretch>
            <a:fillRect/>
          </a:stretch>
        </p:blipFill>
        <p:spPr>
          <a:xfrm>
            <a:off x="12754302" y="7788166"/>
            <a:ext cx="1876097" cy="3783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65453" y="601385"/>
            <a:ext cx="9751100" cy="683538"/>
          </a:xfrm>
          <a:prstGeom prst="rect">
            <a:avLst/>
          </a:prstGeom>
          <a:noFill/>
          <a:ln/>
        </p:spPr>
        <p:txBody>
          <a:bodyPr wrap="none" lIns="0" tIns="0" rIns="0" bIns="0" rtlCol="0" anchor="t"/>
          <a:lstStyle/>
          <a:p>
            <a:pPr marL="0" indent="0" algn="l">
              <a:lnSpc>
                <a:spcPts val="5350"/>
              </a:lnSpc>
              <a:buNone/>
            </a:pPr>
            <a:r>
              <a:rPr lang="en-US" sz="4300" dirty="0">
                <a:solidFill>
                  <a:srgbClr val="505468"/>
                </a:solidFill>
                <a:latin typeface="Instrument Sans Semi Bold" pitchFamily="34" charset="0"/>
                <a:ea typeface="Instrument Sans Semi Bold" pitchFamily="34" charset="-122"/>
                <a:cs typeface="Instrument Sans Semi Bold" pitchFamily="34" charset="-120"/>
              </a:rPr>
              <a:t>The Problem with Traditional Libraries</a:t>
            </a:r>
            <a:endParaRPr lang="en-US" sz="4300" dirty="0"/>
          </a:p>
        </p:txBody>
      </p:sp>
      <p:sp>
        <p:nvSpPr>
          <p:cNvPr id="3" name="Text 1"/>
          <p:cNvSpPr/>
          <p:nvPr/>
        </p:nvSpPr>
        <p:spPr>
          <a:xfrm>
            <a:off x="765453" y="1722358"/>
            <a:ext cx="13099494" cy="699849"/>
          </a:xfrm>
          <a:prstGeom prst="rect">
            <a:avLst/>
          </a:prstGeom>
          <a:noFill/>
          <a:ln/>
        </p:spPr>
        <p:txBody>
          <a:bodyPr wrap="square" lIns="0" tIns="0" rIns="0" bIns="0" rtlCol="0" anchor="t"/>
          <a:lstStyle/>
          <a:p>
            <a:pPr marL="0" indent="0" algn="l">
              <a:lnSpc>
                <a:spcPts val="2750"/>
              </a:lnSpc>
              <a:buNone/>
            </a:pPr>
            <a:r>
              <a:rPr lang="en-US" sz="1700" dirty="0">
                <a:solidFill>
                  <a:srgbClr val="5B5F71"/>
                </a:solidFill>
                <a:latin typeface="Instrument Sans Medium" pitchFamily="34" charset="0"/>
                <a:ea typeface="Instrument Sans Medium" pitchFamily="34" charset="-122"/>
                <a:cs typeface="Instrument Sans Medium" pitchFamily="34" charset="-120"/>
              </a:rPr>
              <a:t>Traditional library systems, while foundational, often grapple with significant operational inefficiencies and limitations. These issues directly impact user experience and the effective management of resources.</a:t>
            </a:r>
            <a:endParaRPr lang="en-US" sz="1700" dirty="0"/>
          </a:p>
        </p:txBody>
      </p:sp>
      <p:sp>
        <p:nvSpPr>
          <p:cNvPr id="4" name="Shape 2"/>
          <p:cNvSpPr/>
          <p:nvPr/>
        </p:nvSpPr>
        <p:spPr>
          <a:xfrm>
            <a:off x="765453" y="2668191"/>
            <a:ext cx="6440329" cy="2371011"/>
          </a:xfrm>
          <a:prstGeom prst="roundRect">
            <a:avLst>
              <a:gd name="adj" fmla="val 3875"/>
            </a:avLst>
          </a:prstGeom>
          <a:solidFill>
            <a:srgbClr val="FFFFFF">
              <a:alpha val="95000"/>
            </a:srgbClr>
          </a:solidFill>
          <a:ln w="30480">
            <a:solidFill>
              <a:srgbClr val="C8C9CF"/>
            </a:solidFill>
            <a:prstDash val="solid"/>
          </a:ln>
        </p:spPr>
      </p:sp>
      <p:pic>
        <p:nvPicPr>
          <p:cNvPr id="5" name="Image 0" descr="preencoded.png"/>
          <p:cNvPicPr>
            <a:picLocks noChangeAspect="1"/>
          </p:cNvPicPr>
          <p:nvPr/>
        </p:nvPicPr>
        <p:blipFill>
          <a:blip r:embed="rId3"/>
          <a:stretch>
            <a:fillRect/>
          </a:stretch>
        </p:blipFill>
        <p:spPr>
          <a:xfrm>
            <a:off x="765453" y="2668191"/>
            <a:ext cx="121920" cy="2371011"/>
          </a:xfrm>
          <a:prstGeom prst="rect">
            <a:avLst/>
          </a:prstGeom>
        </p:spPr>
      </p:pic>
      <p:sp>
        <p:nvSpPr>
          <p:cNvPr id="6" name="Text 3"/>
          <p:cNvSpPr/>
          <p:nvPr/>
        </p:nvSpPr>
        <p:spPr>
          <a:xfrm>
            <a:off x="1136571" y="2917388"/>
            <a:ext cx="3955137" cy="341709"/>
          </a:xfrm>
          <a:prstGeom prst="rect">
            <a:avLst/>
          </a:prstGeom>
          <a:noFill/>
          <a:ln/>
        </p:spPr>
        <p:txBody>
          <a:bodyPr wrap="none" lIns="0" tIns="0" rIns="0" bIns="0" rtlCol="0" anchor="t"/>
          <a:lstStyle/>
          <a:p>
            <a:pPr marL="0" indent="0" algn="l">
              <a:lnSpc>
                <a:spcPts val="2650"/>
              </a:lnSpc>
              <a:buNone/>
            </a:pPr>
            <a:r>
              <a:rPr lang="en-US" sz="2150" dirty="0">
                <a:solidFill>
                  <a:srgbClr val="5B5F71"/>
                </a:solidFill>
                <a:latin typeface="Instrument Sans Semi Bold" pitchFamily="34" charset="0"/>
                <a:ea typeface="Instrument Sans Semi Bold" pitchFamily="34" charset="-122"/>
                <a:cs typeface="Instrument Sans Semi Bold" pitchFamily="34" charset="-120"/>
              </a:rPr>
              <a:t>Manual &amp; Inefficient Processes</a:t>
            </a:r>
            <a:endParaRPr lang="en-US" sz="2150" dirty="0"/>
          </a:p>
        </p:txBody>
      </p:sp>
      <p:sp>
        <p:nvSpPr>
          <p:cNvPr id="7" name="Text 4"/>
          <p:cNvSpPr/>
          <p:nvPr/>
        </p:nvSpPr>
        <p:spPr>
          <a:xfrm>
            <a:off x="1136571" y="3390305"/>
            <a:ext cx="5820013" cy="1399699"/>
          </a:xfrm>
          <a:prstGeom prst="rect">
            <a:avLst/>
          </a:prstGeom>
          <a:noFill/>
          <a:ln/>
        </p:spPr>
        <p:txBody>
          <a:bodyPr wrap="square" lIns="0" tIns="0" rIns="0" bIns="0" rtlCol="0" anchor="t"/>
          <a:lstStyle/>
          <a:p>
            <a:pPr marL="0" indent="0" algn="l">
              <a:lnSpc>
                <a:spcPts val="2750"/>
              </a:lnSpc>
              <a:buNone/>
            </a:pPr>
            <a:r>
              <a:rPr lang="en-US" sz="1700" dirty="0">
                <a:solidFill>
                  <a:srgbClr val="5B5F71"/>
                </a:solidFill>
                <a:latin typeface="Instrument Sans Medium" pitchFamily="34" charset="0"/>
                <a:ea typeface="Instrument Sans Medium" pitchFamily="34" charset="-122"/>
                <a:cs typeface="Instrument Sans Medium" pitchFamily="34" charset="-120"/>
              </a:rPr>
              <a:t>Slow checkout and return procedures lead to long queues, consuming valuable time for both students and library staff. This bottleneck hinders the smooth flow of library services.</a:t>
            </a:r>
            <a:endParaRPr lang="en-US" sz="1700" dirty="0"/>
          </a:p>
        </p:txBody>
      </p:sp>
      <p:sp>
        <p:nvSpPr>
          <p:cNvPr id="8" name="Shape 5"/>
          <p:cNvSpPr/>
          <p:nvPr/>
        </p:nvSpPr>
        <p:spPr>
          <a:xfrm>
            <a:off x="7424499" y="2668191"/>
            <a:ext cx="6440448" cy="2371011"/>
          </a:xfrm>
          <a:prstGeom prst="roundRect">
            <a:avLst>
              <a:gd name="adj" fmla="val 3875"/>
            </a:avLst>
          </a:prstGeom>
          <a:solidFill>
            <a:srgbClr val="FFFFFF">
              <a:alpha val="95000"/>
            </a:srgbClr>
          </a:solidFill>
          <a:ln w="30480">
            <a:solidFill>
              <a:srgbClr val="C8C9CF"/>
            </a:solidFill>
            <a:prstDash val="solid"/>
          </a:ln>
        </p:spPr>
      </p:sp>
      <p:pic>
        <p:nvPicPr>
          <p:cNvPr id="9" name="Image 1" descr="preencoded.png"/>
          <p:cNvPicPr>
            <a:picLocks noChangeAspect="1"/>
          </p:cNvPicPr>
          <p:nvPr/>
        </p:nvPicPr>
        <p:blipFill>
          <a:blip r:embed="rId3"/>
          <a:stretch>
            <a:fillRect/>
          </a:stretch>
        </p:blipFill>
        <p:spPr>
          <a:xfrm>
            <a:off x="7424499" y="2668191"/>
            <a:ext cx="121920" cy="2371011"/>
          </a:xfrm>
          <a:prstGeom prst="rect">
            <a:avLst/>
          </a:prstGeom>
        </p:spPr>
      </p:pic>
      <p:sp>
        <p:nvSpPr>
          <p:cNvPr id="10" name="Text 6"/>
          <p:cNvSpPr/>
          <p:nvPr/>
        </p:nvSpPr>
        <p:spPr>
          <a:xfrm>
            <a:off x="7795617" y="2917388"/>
            <a:ext cx="2793921" cy="341709"/>
          </a:xfrm>
          <a:prstGeom prst="rect">
            <a:avLst/>
          </a:prstGeom>
          <a:noFill/>
          <a:ln/>
        </p:spPr>
        <p:txBody>
          <a:bodyPr wrap="none" lIns="0" tIns="0" rIns="0" bIns="0" rtlCol="0" anchor="t"/>
          <a:lstStyle/>
          <a:p>
            <a:pPr marL="0" indent="0" algn="l">
              <a:lnSpc>
                <a:spcPts val="2650"/>
              </a:lnSpc>
              <a:buNone/>
            </a:pPr>
            <a:r>
              <a:rPr lang="en-US" sz="2150" dirty="0">
                <a:solidFill>
                  <a:srgbClr val="5B5F71"/>
                </a:solidFill>
                <a:latin typeface="Instrument Sans Semi Bold" pitchFamily="34" charset="0"/>
                <a:ea typeface="Instrument Sans Semi Bold" pitchFamily="34" charset="-122"/>
                <a:cs typeface="Instrument Sans Semi Bold" pitchFamily="34" charset="-120"/>
              </a:rPr>
              <a:t>Prone to Human Error</a:t>
            </a:r>
            <a:endParaRPr lang="en-US" sz="2150" dirty="0"/>
          </a:p>
        </p:txBody>
      </p:sp>
      <p:sp>
        <p:nvSpPr>
          <p:cNvPr id="11" name="Text 7"/>
          <p:cNvSpPr/>
          <p:nvPr/>
        </p:nvSpPr>
        <p:spPr>
          <a:xfrm>
            <a:off x="7795617" y="3390305"/>
            <a:ext cx="5820132" cy="1049774"/>
          </a:xfrm>
          <a:prstGeom prst="rect">
            <a:avLst/>
          </a:prstGeom>
          <a:noFill/>
          <a:ln/>
        </p:spPr>
        <p:txBody>
          <a:bodyPr wrap="square" lIns="0" tIns="0" rIns="0" bIns="0" rtlCol="0" anchor="t"/>
          <a:lstStyle/>
          <a:p>
            <a:pPr marL="0" indent="0" algn="l">
              <a:lnSpc>
                <a:spcPts val="2750"/>
              </a:lnSpc>
              <a:buNone/>
            </a:pPr>
            <a:r>
              <a:rPr lang="en-US" sz="1700" dirty="0">
                <a:solidFill>
                  <a:srgbClr val="5B5F71"/>
                </a:solidFill>
                <a:latin typeface="Instrument Sans Medium" pitchFamily="34" charset="0"/>
                <a:ea typeface="Instrument Sans Medium" pitchFamily="34" charset="-122"/>
                <a:cs typeface="Instrument Sans Medium" pitchFamily="34" charset="-120"/>
              </a:rPr>
              <a:t>Reliance on manual tracking for inventory records frequently results in inaccuracies, misplaced books, and inconsistent data, complicating resource availability.</a:t>
            </a:r>
            <a:endParaRPr lang="en-US" sz="1700" dirty="0"/>
          </a:p>
        </p:txBody>
      </p:sp>
      <p:sp>
        <p:nvSpPr>
          <p:cNvPr id="12" name="Shape 8"/>
          <p:cNvSpPr/>
          <p:nvPr/>
        </p:nvSpPr>
        <p:spPr>
          <a:xfrm>
            <a:off x="765453" y="5257919"/>
            <a:ext cx="6440329" cy="2371011"/>
          </a:xfrm>
          <a:prstGeom prst="roundRect">
            <a:avLst>
              <a:gd name="adj" fmla="val 3875"/>
            </a:avLst>
          </a:prstGeom>
          <a:solidFill>
            <a:srgbClr val="FFFFFF">
              <a:alpha val="95000"/>
            </a:srgbClr>
          </a:solidFill>
          <a:ln w="30480">
            <a:solidFill>
              <a:srgbClr val="C8C9CF"/>
            </a:solidFill>
            <a:prstDash val="solid"/>
          </a:ln>
        </p:spPr>
      </p:sp>
      <p:pic>
        <p:nvPicPr>
          <p:cNvPr id="13" name="Image 2" descr="preencoded.png"/>
          <p:cNvPicPr>
            <a:picLocks noChangeAspect="1"/>
          </p:cNvPicPr>
          <p:nvPr/>
        </p:nvPicPr>
        <p:blipFill>
          <a:blip r:embed="rId3"/>
          <a:stretch>
            <a:fillRect/>
          </a:stretch>
        </p:blipFill>
        <p:spPr>
          <a:xfrm>
            <a:off x="765453" y="5257919"/>
            <a:ext cx="121920" cy="2371011"/>
          </a:xfrm>
          <a:prstGeom prst="rect">
            <a:avLst/>
          </a:prstGeom>
        </p:spPr>
      </p:pic>
      <p:sp>
        <p:nvSpPr>
          <p:cNvPr id="14" name="Text 9"/>
          <p:cNvSpPr/>
          <p:nvPr/>
        </p:nvSpPr>
        <p:spPr>
          <a:xfrm>
            <a:off x="1136571" y="5507117"/>
            <a:ext cx="2734032" cy="341709"/>
          </a:xfrm>
          <a:prstGeom prst="rect">
            <a:avLst/>
          </a:prstGeom>
          <a:noFill/>
          <a:ln/>
        </p:spPr>
        <p:txBody>
          <a:bodyPr wrap="none" lIns="0" tIns="0" rIns="0" bIns="0" rtlCol="0" anchor="t"/>
          <a:lstStyle/>
          <a:p>
            <a:pPr marL="0" indent="0" algn="l">
              <a:lnSpc>
                <a:spcPts val="2650"/>
              </a:lnSpc>
              <a:buNone/>
            </a:pPr>
            <a:r>
              <a:rPr lang="en-US" sz="2150" dirty="0">
                <a:solidFill>
                  <a:srgbClr val="5B5F71"/>
                </a:solidFill>
                <a:latin typeface="Instrument Sans Semi Bold" pitchFamily="34" charset="0"/>
                <a:ea typeface="Instrument Sans Semi Bold" pitchFamily="34" charset="-122"/>
                <a:cs typeface="Instrument Sans Semi Bold" pitchFamily="34" charset="-120"/>
              </a:rPr>
              <a:t>Lack of Data Insights</a:t>
            </a:r>
            <a:endParaRPr lang="en-US" sz="2150" dirty="0"/>
          </a:p>
        </p:txBody>
      </p:sp>
      <p:sp>
        <p:nvSpPr>
          <p:cNvPr id="15" name="Text 10"/>
          <p:cNvSpPr/>
          <p:nvPr/>
        </p:nvSpPr>
        <p:spPr>
          <a:xfrm>
            <a:off x="1136571" y="5980033"/>
            <a:ext cx="5820013" cy="1399699"/>
          </a:xfrm>
          <a:prstGeom prst="rect">
            <a:avLst/>
          </a:prstGeom>
          <a:noFill/>
          <a:ln/>
        </p:spPr>
        <p:txBody>
          <a:bodyPr wrap="square" lIns="0" tIns="0" rIns="0" bIns="0" rtlCol="0" anchor="t"/>
          <a:lstStyle/>
          <a:p>
            <a:pPr marL="0" indent="0" algn="l">
              <a:lnSpc>
                <a:spcPts val="2750"/>
              </a:lnSpc>
              <a:buNone/>
            </a:pPr>
            <a:r>
              <a:rPr lang="en-US" sz="1700" dirty="0">
                <a:solidFill>
                  <a:srgbClr val="5B5F71"/>
                </a:solidFill>
                <a:latin typeface="Instrument Sans Medium" pitchFamily="34" charset="0"/>
                <a:ea typeface="Instrument Sans Medium" pitchFamily="34" charset="-122"/>
                <a:cs typeface="Instrument Sans Medium" pitchFamily="34" charset="-120"/>
              </a:rPr>
              <a:t>Traditional systems typically do not collect or analyse data on user borrowing habits or book popularity, making it challenging to optimise the book collection and service offerings.</a:t>
            </a:r>
            <a:endParaRPr lang="en-US" sz="1700" dirty="0"/>
          </a:p>
        </p:txBody>
      </p:sp>
      <p:sp>
        <p:nvSpPr>
          <p:cNvPr id="16" name="Shape 11"/>
          <p:cNvSpPr/>
          <p:nvPr/>
        </p:nvSpPr>
        <p:spPr>
          <a:xfrm>
            <a:off x="7424499" y="5257919"/>
            <a:ext cx="6440448" cy="2371011"/>
          </a:xfrm>
          <a:prstGeom prst="roundRect">
            <a:avLst>
              <a:gd name="adj" fmla="val 3875"/>
            </a:avLst>
          </a:prstGeom>
          <a:solidFill>
            <a:srgbClr val="FFFFFF">
              <a:alpha val="95000"/>
            </a:srgbClr>
          </a:solidFill>
          <a:ln w="30480">
            <a:solidFill>
              <a:srgbClr val="C8C9CF"/>
            </a:solidFill>
            <a:prstDash val="solid"/>
          </a:ln>
        </p:spPr>
      </p:sp>
      <p:pic>
        <p:nvPicPr>
          <p:cNvPr id="17" name="Image 3" descr="preencoded.png"/>
          <p:cNvPicPr>
            <a:picLocks noChangeAspect="1"/>
          </p:cNvPicPr>
          <p:nvPr/>
        </p:nvPicPr>
        <p:blipFill>
          <a:blip r:embed="rId3"/>
          <a:stretch>
            <a:fillRect/>
          </a:stretch>
        </p:blipFill>
        <p:spPr>
          <a:xfrm>
            <a:off x="7424499" y="5257919"/>
            <a:ext cx="121920" cy="2371011"/>
          </a:xfrm>
          <a:prstGeom prst="rect">
            <a:avLst/>
          </a:prstGeom>
        </p:spPr>
      </p:pic>
      <p:sp>
        <p:nvSpPr>
          <p:cNvPr id="18" name="Text 12"/>
          <p:cNvSpPr/>
          <p:nvPr/>
        </p:nvSpPr>
        <p:spPr>
          <a:xfrm>
            <a:off x="7795617" y="5507117"/>
            <a:ext cx="3657719" cy="341709"/>
          </a:xfrm>
          <a:prstGeom prst="rect">
            <a:avLst/>
          </a:prstGeom>
          <a:noFill/>
          <a:ln/>
        </p:spPr>
        <p:txBody>
          <a:bodyPr wrap="none" lIns="0" tIns="0" rIns="0" bIns="0" rtlCol="0" anchor="t"/>
          <a:lstStyle/>
          <a:p>
            <a:pPr marL="0" indent="0" algn="l">
              <a:lnSpc>
                <a:spcPts val="2650"/>
              </a:lnSpc>
              <a:buNone/>
            </a:pPr>
            <a:r>
              <a:rPr lang="en-US" sz="2150" dirty="0">
                <a:solidFill>
                  <a:srgbClr val="5B5F71"/>
                </a:solidFill>
                <a:latin typeface="Instrument Sans Semi Bold" pitchFamily="34" charset="0"/>
                <a:ea typeface="Instrument Sans Semi Bold" pitchFamily="34" charset="-122"/>
                <a:cs typeface="Instrument Sans Semi Bold" pitchFamily="34" charset="-120"/>
              </a:rPr>
              <a:t>Suboptimal User Experience</a:t>
            </a:r>
            <a:endParaRPr lang="en-US" sz="2150" dirty="0"/>
          </a:p>
        </p:txBody>
      </p:sp>
      <p:sp>
        <p:nvSpPr>
          <p:cNvPr id="19" name="Text 13"/>
          <p:cNvSpPr/>
          <p:nvPr/>
        </p:nvSpPr>
        <p:spPr>
          <a:xfrm>
            <a:off x="7795617" y="5980033"/>
            <a:ext cx="5820132" cy="1049774"/>
          </a:xfrm>
          <a:prstGeom prst="rect">
            <a:avLst/>
          </a:prstGeom>
          <a:noFill/>
          <a:ln/>
        </p:spPr>
        <p:txBody>
          <a:bodyPr wrap="square" lIns="0" tIns="0" rIns="0" bIns="0" rtlCol="0" anchor="t"/>
          <a:lstStyle/>
          <a:p>
            <a:pPr marL="0" indent="0" algn="l">
              <a:lnSpc>
                <a:spcPts val="2750"/>
              </a:lnSpc>
              <a:buNone/>
            </a:pPr>
            <a:r>
              <a:rPr lang="en-US" sz="1700" dirty="0">
                <a:solidFill>
                  <a:srgbClr val="5B5F71"/>
                </a:solidFill>
                <a:latin typeface="Instrument Sans Medium" pitchFamily="34" charset="0"/>
                <a:ea typeface="Instrument Sans Medium" pitchFamily="34" charset="-122"/>
                <a:cs typeface="Instrument Sans Medium" pitchFamily="34" charset="-120"/>
              </a:rPr>
              <a:t>Limited accessibility and the absence of modern, engaging features deter users, failing to meet the expectations of today's tech-savvy generation.</a:t>
            </a:r>
            <a:endParaRPr lang="en-US" sz="1700" dirty="0"/>
          </a:p>
        </p:txBody>
      </p:sp>
      <p:pic>
        <p:nvPicPr>
          <p:cNvPr id="20" name="Picture 19">
            <a:extLst>
              <a:ext uri="{FF2B5EF4-FFF2-40B4-BE49-F238E27FC236}">
                <a16:creationId xmlns:a16="http://schemas.microsoft.com/office/drawing/2014/main" id="{56FA827A-B2C3-48C0-AF8B-A5BDAF1030D7}"/>
              </a:ext>
            </a:extLst>
          </p:cNvPr>
          <p:cNvPicPr>
            <a:picLocks noChangeAspect="1"/>
          </p:cNvPicPr>
          <p:nvPr/>
        </p:nvPicPr>
        <p:blipFill>
          <a:blip r:embed="rId4"/>
          <a:stretch>
            <a:fillRect/>
          </a:stretch>
        </p:blipFill>
        <p:spPr>
          <a:xfrm>
            <a:off x="12754302" y="7788166"/>
            <a:ext cx="1876097" cy="3783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5662" y="420886"/>
            <a:ext cx="7638812" cy="478274"/>
          </a:xfrm>
          <a:prstGeom prst="rect">
            <a:avLst/>
          </a:prstGeom>
          <a:noFill/>
          <a:ln/>
        </p:spPr>
        <p:txBody>
          <a:bodyPr wrap="none" lIns="0" tIns="0" rIns="0" bIns="0" rtlCol="0" anchor="t"/>
          <a:lstStyle/>
          <a:p>
            <a:pPr marL="0" indent="0" algn="l">
              <a:lnSpc>
                <a:spcPts val="3750"/>
              </a:lnSpc>
              <a:buNone/>
            </a:pPr>
            <a:r>
              <a:rPr lang="en-US" sz="3000" dirty="0">
                <a:solidFill>
                  <a:srgbClr val="505468"/>
                </a:solidFill>
                <a:latin typeface="Instrument Sans Semi Bold" pitchFamily="34" charset="0"/>
                <a:ea typeface="Instrument Sans Semi Bold" pitchFamily="34" charset="-122"/>
                <a:cs typeface="Instrument Sans Semi Bold" pitchFamily="34" charset="-120"/>
              </a:rPr>
              <a:t>Our Solution: A Modern, Intelligent System</a:t>
            </a:r>
            <a:endParaRPr lang="en-US" sz="3000" dirty="0"/>
          </a:p>
        </p:txBody>
      </p:sp>
      <p:sp>
        <p:nvSpPr>
          <p:cNvPr id="3" name="Text 1"/>
          <p:cNvSpPr/>
          <p:nvPr/>
        </p:nvSpPr>
        <p:spPr>
          <a:xfrm>
            <a:off x="535662" y="1205270"/>
            <a:ext cx="13559076" cy="244912"/>
          </a:xfrm>
          <a:prstGeom prst="rect">
            <a:avLst/>
          </a:prstGeom>
          <a:noFill/>
          <a:ln/>
        </p:spPr>
        <p:txBody>
          <a:bodyPr wrap="none" lIns="0" tIns="0" rIns="0" bIns="0" rtlCol="0" anchor="t"/>
          <a:lstStyle/>
          <a:p>
            <a:pPr marL="0" indent="0" algn="l">
              <a:lnSpc>
                <a:spcPts val="1900"/>
              </a:lnSpc>
              <a:buNone/>
            </a:pPr>
            <a:r>
              <a:rPr lang="en-US" sz="1200" dirty="0">
                <a:solidFill>
                  <a:srgbClr val="5B5F71"/>
                </a:solidFill>
                <a:latin typeface="Instrument Sans Medium" pitchFamily="34" charset="0"/>
                <a:ea typeface="Instrument Sans Medium" pitchFamily="34" charset="-122"/>
                <a:cs typeface="Instrument Sans Medium" pitchFamily="34" charset="-120"/>
              </a:rPr>
              <a:t>We propose the "Automated Library Assistant", a forward-thinking solution designed to revolutionise library operations through seamless integration of IoT and Machine Learning.</a:t>
            </a:r>
            <a:endParaRPr lang="en-US" sz="1200" dirty="0"/>
          </a:p>
        </p:txBody>
      </p:sp>
      <p:pic>
        <p:nvPicPr>
          <p:cNvPr id="4" name="Image 0" descr="preencoded.png"/>
          <p:cNvPicPr>
            <a:picLocks noChangeAspect="1"/>
          </p:cNvPicPr>
          <p:nvPr/>
        </p:nvPicPr>
        <p:blipFill>
          <a:blip r:embed="rId3"/>
          <a:stretch>
            <a:fillRect/>
          </a:stretch>
        </p:blipFill>
        <p:spPr>
          <a:xfrm>
            <a:off x="535662" y="1794510"/>
            <a:ext cx="6592848" cy="6592848"/>
          </a:xfrm>
          <a:prstGeom prst="rect">
            <a:avLst/>
          </a:prstGeom>
        </p:spPr>
      </p:pic>
      <p:sp>
        <p:nvSpPr>
          <p:cNvPr id="5" name="Shape 2"/>
          <p:cNvSpPr/>
          <p:nvPr/>
        </p:nvSpPr>
        <p:spPr>
          <a:xfrm>
            <a:off x="7509510" y="1794510"/>
            <a:ext cx="344329" cy="344329"/>
          </a:xfrm>
          <a:prstGeom prst="roundRect">
            <a:avLst>
              <a:gd name="adj" fmla="val 18672"/>
            </a:avLst>
          </a:prstGeom>
          <a:solidFill>
            <a:srgbClr val="E2E3E9"/>
          </a:solidFill>
          <a:ln w="7620">
            <a:solidFill>
              <a:srgbClr val="C8C9CF"/>
            </a:solidFill>
            <a:prstDash val="solid"/>
          </a:ln>
        </p:spPr>
      </p:sp>
      <p:sp>
        <p:nvSpPr>
          <p:cNvPr id="6" name="Text 3"/>
          <p:cNvSpPr/>
          <p:nvPr/>
        </p:nvSpPr>
        <p:spPr>
          <a:xfrm>
            <a:off x="8006834" y="1847017"/>
            <a:ext cx="2248376" cy="239078"/>
          </a:xfrm>
          <a:prstGeom prst="rect">
            <a:avLst/>
          </a:prstGeom>
          <a:noFill/>
          <a:ln/>
        </p:spPr>
        <p:txBody>
          <a:bodyPr wrap="none" lIns="0" tIns="0" rIns="0" bIns="0" rtlCol="0" anchor="t"/>
          <a:lstStyle/>
          <a:p>
            <a:pPr marL="0" indent="0" algn="l">
              <a:lnSpc>
                <a:spcPts val="1850"/>
              </a:lnSpc>
              <a:buNone/>
            </a:pPr>
            <a:r>
              <a:rPr lang="en-US" sz="1500" dirty="0">
                <a:solidFill>
                  <a:srgbClr val="5B5F71"/>
                </a:solidFill>
                <a:latin typeface="Instrument Sans Semi Bold" pitchFamily="34" charset="0"/>
                <a:ea typeface="Instrument Sans Semi Bold" pitchFamily="34" charset="-122"/>
                <a:cs typeface="Instrument Sans Semi Bold" pitchFamily="34" charset="-120"/>
              </a:rPr>
              <a:t>Hybrid System Approach</a:t>
            </a:r>
            <a:endParaRPr lang="en-US" sz="1500" dirty="0"/>
          </a:p>
        </p:txBody>
      </p:sp>
      <p:sp>
        <p:nvSpPr>
          <p:cNvPr id="7" name="Text 4"/>
          <p:cNvSpPr/>
          <p:nvPr/>
        </p:nvSpPr>
        <p:spPr>
          <a:xfrm>
            <a:off x="8006834" y="2239089"/>
            <a:ext cx="6095524" cy="489823"/>
          </a:xfrm>
          <a:prstGeom prst="rect">
            <a:avLst/>
          </a:prstGeom>
          <a:noFill/>
          <a:ln/>
        </p:spPr>
        <p:txBody>
          <a:bodyPr wrap="square" lIns="0" tIns="0" rIns="0" bIns="0" rtlCol="0" anchor="t"/>
          <a:lstStyle/>
          <a:p>
            <a:pPr marL="0" indent="0" algn="l">
              <a:lnSpc>
                <a:spcPts val="1900"/>
              </a:lnSpc>
              <a:buNone/>
            </a:pPr>
            <a:r>
              <a:rPr lang="en-US" sz="1200" dirty="0">
                <a:solidFill>
                  <a:srgbClr val="5B5F71"/>
                </a:solidFill>
                <a:latin typeface="Instrument Sans Medium" pitchFamily="34" charset="0"/>
                <a:ea typeface="Instrument Sans Medium" pitchFamily="34" charset="-122"/>
                <a:cs typeface="Instrument Sans Medium" pitchFamily="34" charset="-120"/>
              </a:rPr>
              <a:t>Combines a physical IoT kiosk for on-site interactions with a robust web application for remote management.</a:t>
            </a:r>
            <a:endParaRPr lang="en-US" sz="1200" dirty="0"/>
          </a:p>
        </p:txBody>
      </p:sp>
      <p:sp>
        <p:nvSpPr>
          <p:cNvPr id="8" name="Shape 5"/>
          <p:cNvSpPr/>
          <p:nvPr/>
        </p:nvSpPr>
        <p:spPr>
          <a:xfrm>
            <a:off x="7509510" y="3035022"/>
            <a:ext cx="344329" cy="344329"/>
          </a:xfrm>
          <a:prstGeom prst="roundRect">
            <a:avLst>
              <a:gd name="adj" fmla="val 18672"/>
            </a:avLst>
          </a:prstGeom>
          <a:solidFill>
            <a:srgbClr val="E2E3E9"/>
          </a:solidFill>
          <a:ln w="7620">
            <a:solidFill>
              <a:srgbClr val="C8C9CF"/>
            </a:solidFill>
            <a:prstDash val="solid"/>
          </a:ln>
        </p:spPr>
      </p:sp>
      <p:sp>
        <p:nvSpPr>
          <p:cNvPr id="9" name="Text 6"/>
          <p:cNvSpPr/>
          <p:nvPr/>
        </p:nvSpPr>
        <p:spPr>
          <a:xfrm>
            <a:off x="8006834" y="3087529"/>
            <a:ext cx="2812852" cy="239078"/>
          </a:xfrm>
          <a:prstGeom prst="rect">
            <a:avLst/>
          </a:prstGeom>
          <a:noFill/>
          <a:ln/>
        </p:spPr>
        <p:txBody>
          <a:bodyPr wrap="none" lIns="0" tIns="0" rIns="0" bIns="0" rtlCol="0" anchor="t"/>
          <a:lstStyle/>
          <a:p>
            <a:pPr marL="0" indent="0" algn="l">
              <a:lnSpc>
                <a:spcPts val="1850"/>
              </a:lnSpc>
              <a:buNone/>
            </a:pPr>
            <a:r>
              <a:rPr lang="en-US" sz="1500" dirty="0">
                <a:solidFill>
                  <a:srgbClr val="5B5F71"/>
                </a:solidFill>
                <a:latin typeface="Instrument Sans Semi Bold" pitchFamily="34" charset="0"/>
                <a:ea typeface="Instrument Sans Semi Bold" pitchFamily="34" charset="-122"/>
                <a:cs typeface="Instrument Sans Semi Bold" pitchFamily="34" charset="-120"/>
              </a:rPr>
              <a:t>Enhanced Security &amp; Efficiency</a:t>
            </a:r>
            <a:endParaRPr lang="en-US" sz="1500" dirty="0"/>
          </a:p>
        </p:txBody>
      </p:sp>
      <p:sp>
        <p:nvSpPr>
          <p:cNvPr id="10" name="Text 7"/>
          <p:cNvSpPr/>
          <p:nvPr/>
        </p:nvSpPr>
        <p:spPr>
          <a:xfrm>
            <a:off x="8006834" y="3479602"/>
            <a:ext cx="6095524" cy="489823"/>
          </a:xfrm>
          <a:prstGeom prst="rect">
            <a:avLst/>
          </a:prstGeom>
          <a:noFill/>
          <a:ln/>
        </p:spPr>
        <p:txBody>
          <a:bodyPr wrap="square" lIns="0" tIns="0" rIns="0" bIns="0" rtlCol="0" anchor="t"/>
          <a:lstStyle/>
          <a:p>
            <a:pPr marL="0" indent="0" algn="l">
              <a:lnSpc>
                <a:spcPts val="1900"/>
              </a:lnSpc>
              <a:buNone/>
            </a:pPr>
            <a:r>
              <a:rPr lang="en-US" sz="1200" dirty="0">
                <a:solidFill>
                  <a:srgbClr val="5B5F71"/>
                </a:solidFill>
                <a:latin typeface="Instrument Sans Medium" pitchFamily="34" charset="0"/>
                <a:ea typeface="Instrument Sans Medium" pitchFamily="34" charset="-122"/>
                <a:cs typeface="Instrument Sans Medium" pitchFamily="34" charset="-120"/>
              </a:rPr>
              <a:t>RFID-based authentication ensures secure, rapid, and accurate physical transactions, mitigating human error.</a:t>
            </a:r>
            <a:endParaRPr lang="en-US" sz="1200" dirty="0"/>
          </a:p>
        </p:txBody>
      </p:sp>
      <p:sp>
        <p:nvSpPr>
          <p:cNvPr id="11" name="Shape 8"/>
          <p:cNvSpPr/>
          <p:nvPr/>
        </p:nvSpPr>
        <p:spPr>
          <a:xfrm>
            <a:off x="7509510" y="4275534"/>
            <a:ext cx="344329" cy="344329"/>
          </a:xfrm>
          <a:prstGeom prst="roundRect">
            <a:avLst>
              <a:gd name="adj" fmla="val 18672"/>
            </a:avLst>
          </a:prstGeom>
          <a:solidFill>
            <a:srgbClr val="E2E3E9"/>
          </a:solidFill>
          <a:ln w="7620">
            <a:solidFill>
              <a:srgbClr val="C8C9CF"/>
            </a:solidFill>
            <a:prstDash val="solid"/>
          </a:ln>
        </p:spPr>
      </p:sp>
      <p:sp>
        <p:nvSpPr>
          <p:cNvPr id="12" name="Text 9"/>
          <p:cNvSpPr/>
          <p:nvPr/>
        </p:nvSpPr>
        <p:spPr>
          <a:xfrm>
            <a:off x="8006834" y="4328041"/>
            <a:ext cx="2320766" cy="239078"/>
          </a:xfrm>
          <a:prstGeom prst="rect">
            <a:avLst/>
          </a:prstGeom>
          <a:noFill/>
          <a:ln/>
        </p:spPr>
        <p:txBody>
          <a:bodyPr wrap="none" lIns="0" tIns="0" rIns="0" bIns="0" rtlCol="0" anchor="t"/>
          <a:lstStyle/>
          <a:p>
            <a:pPr marL="0" indent="0" algn="l">
              <a:lnSpc>
                <a:spcPts val="1850"/>
              </a:lnSpc>
              <a:buNone/>
            </a:pPr>
            <a:r>
              <a:rPr lang="en-US" sz="1500" dirty="0">
                <a:solidFill>
                  <a:srgbClr val="5B5F71"/>
                </a:solidFill>
                <a:latin typeface="Instrument Sans Semi Bold" pitchFamily="34" charset="0"/>
                <a:ea typeface="Instrument Sans Semi Bold" pitchFamily="34" charset="-122"/>
                <a:cs typeface="Instrument Sans Semi Bold" pitchFamily="34" charset="-120"/>
              </a:rPr>
              <a:t>Data-Driven Optimisation</a:t>
            </a:r>
            <a:endParaRPr lang="en-US" sz="1500" dirty="0"/>
          </a:p>
        </p:txBody>
      </p:sp>
      <p:sp>
        <p:nvSpPr>
          <p:cNvPr id="13" name="Text 10"/>
          <p:cNvSpPr/>
          <p:nvPr/>
        </p:nvSpPr>
        <p:spPr>
          <a:xfrm>
            <a:off x="8006834" y="4720114"/>
            <a:ext cx="6095524" cy="489823"/>
          </a:xfrm>
          <a:prstGeom prst="rect">
            <a:avLst/>
          </a:prstGeom>
          <a:noFill/>
          <a:ln/>
        </p:spPr>
        <p:txBody>
          <a:bodyPr wrap="square" lIns="0" tIns="0" rIns="0" bIns="0" rtlCol="0" anchor="t"/>
          <a:lstStyle/>
          <a:p>
            <a:pPr marL="0" indent="0" algn="l">
              <a:lnSpc>
                <a:spcPts val="1900"/>
              </a:lnSpc>
              <a:buNone/>
            </a:pPr>
            <a:r>
              <a:rPr lang="en-US" sz="1200" dirty="0">
                <a:solidFill>
                  <a:srgbClr val="5B5F71"/>
                </a:solidFill>
                <a:latin typeface="Instrument Sans Medium" pitchFamily="34" charset="0"/>
                <a:ea typeface="Instrument Sans Medium" pitchFamily="34" charset="-122"/>
                <a:cs typeface="Instrument Sans Medium" pitchFamily="34" charset="-120"/>
              </a:rPr>
              <a:t>Leverages machine learning algorithms to provide intelligent, value-added features that enhance user experience and operational insights.</a:t>
            </a:r>
            <a:endParaRPr lang="en-US" sz="1200" dirty="0"/>
          </a:p>
        </p:txBody>
      </p:sp>
      <p:sp>
        <p:nvSpPr>
          <p:cNvPr id="14" name="Shape 11"/>
          <p:cNvSpPr/>
          <p:nvPr/>
        </p:nvSpPr>
        <p:spPr>
          <a:xfrm>
            <a:off x="7509510" y="5516047"/>
            <a:ext cx="344329" cy="344329"/>
          </a:xfrm>
          <a:prstGeom prst="roundRect">
            <a:avLst>
              <a:gd name="adj" fmla="val 18672"/>
            </a:avLst>
          </a:prstGeom>
          <a:solidFill>
            <a:srgbClr val="E2E3E9"/>
          </a:solidFill>
          <a:ln w="7620">
            <a:solidFill>
              <a:srgbClr val="C8C9CF"/>
            </a:solidFill>
            <a:prstDash val="solid"/>
          </a:ln>
        </p:spPr>
      </p:sp>
      <p:sp>
        <p:nvSpPr>
          <p:cNvPr id="15" name="Text 12"/>
          <p:cNvSpPr/>
          <p:nvPr/>
        </p:nvSpPr>
        <p:spPr>
          <a:xfrm>
            <a:off x="8006834" y="5568553"/>
            <a:ext cx="2410420" cy="239078"/>
          </a:xfrm>
          <a:prstGeom prst="rect">
            <a:avLst/>
          </a:prstGeom>
          <a:noFill/>
          <a:ln/>
        </p:spPr>
        <p:txBody>
          <a:bodyPr wrap="none" lIns="0" tIns="0" rIns="0" bIns="0" rtlCol="0" anchor="t"/>
          <a:lstStyle/>
          <a:p>
            <a:pPr marL="0" indent="0" algn="l">
              <a:lnSpc>
                <a:spcPts val="1850"/>
              </a:lnSpc>
              <a:buNone/>
            </a:pPr>
            <a:r>
              <a:rPr lang="en-US" sz="1500" dirty="0">
                <a:solidFill>
                  <a:srgbClr val="5B5F71"/>
                </a:solidFill>
                <a:latin typeface="Instrument Sans Semi Bold" pitchFamily="34" charset="0"/>
                <a:ea typeface="Instrument Sans Semi Bold" pitchFamily="34" charset="-122"/>
                <a:cs typeface="Instrument Sans Semi Bold" pitchFamily="34" charset="-120"/>
              </a:rPr>
              <a:t>User-Friendly Accessibility</a:t>
            </a:r>
            <a:endParaRPr lang="en-US" sz="1500" dirty="0"/>
          </a:p>
        </p:txBody>
      </p:sp>
      <p:sp>
        <p:nvSpPr>
          <p:cNvPr id="16" name="Text 13"/>
          <p:cNvSpPr/>
          <p:nvPr/>
        </p:nvSpPr>
        <p:spPr>
          <a:xfrm>
            <a:off x="8006834" y="5960626"/>
            <a:ext cx="6095524" cy="489823"/>
          </a:xfrm>
          <a:prstGeom prst="rect">
            <a:avLst/>
          </a:prstGeom>
          <a:noFill/>
          <a:ln/>
        </p:spPr>
        <p:txBody>
          <a:bodyPr wrap="square" lIns="0" tIns="0" rIns="0" bIns="0" rtlCol="0" anchor="t"/>
          <a:lstStyle/>
          <a:p>
            <a:pPr marL="0" indent="0" algn="l">
              <a:lnSpc>
                <a:spcPts val="1900"/>
              </a:lnSpc>
              <a:buNone/>
            </a:pPr>
            <a:r>
              <a:rPr lang="en-US" sz="1200" dirty="0">
                <a:solidFill>
                  <a:srgbClr val="5B5F71"/>
                </a:solidFill>
                <a:latin typeface="Instrument Sans Medium" pitchFamily="34" charset="0"/>
                <a:ea typeface="Instrument Sans Medium" pitchFamily="34" charset="-122"/>
                <a:cs typeface="Instrument Sans Medium" pitchFamily="34" charset="-120"/>
              </a:rPr>
              <a:t>A modern web portal enables users to manage accounts and discover books from any internet-connected device, anytime, anywhere.</a:t>
            </a:r>
            <a:endParaRPr lang="en-US" sz="1200" dirty="0"/>
          </a:p>
        </p:txBody>
      </p:sp>
      <p:pic>
        <p:nvPicPr>
          <p:cNvPr id="17" name="Picture 16">
            <a:extLst>
              <a:ext uri="{FF2B5EF4-FFF2-40B4-BE49-F238E27FC236}">
                <a16:creationId xmlns:a16="http://schemas.microsoft.com/office/drawing/2014/main" id="{78CD982F-E840-46C9-A82A-7ED13A1AC51B}"/>
              </a:ext>
            </a:extLst>
          </p:cNvPr>
          <p:cNvPicPr>
            <a:picLocks noChangeAspect="1"/>
          </p:cNvPicPr>
          <p:nvPr/>
        </p:nvPicPr>
        <p:blipFill>
          <a:blip r:embed="rId4"/>
          <a:stretch>
            <a:fillRect/>
          </a:stretch>
        </p:blipFill>
        <p:spPr>
          <a:xfrm>
            <a:off x="12754302" y="7788166"/>
            <a:ext cx="1876097" cy="3783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324" y="538401"/>
            <a:ext cx="4895136" cy="611743"/>
          </a:xfrm>
          <a:prstGeom prst="rect">
            <a:avLst/>
          </a:prstGeom>
          <a:noFill/>
          <a:ln/>
        </p:spPr>
        <p:txBody>
          <a:bodyPr wrap="none" lIns="0" tIns="0" rIns="0" bIns="0" rtlCol="0" anchor="t"/>
          <a:lstStyle/>
          <a:p>
            <a:pPr marL="0" indent="0" algn="l">
              <a:lnSpc>
                <a:spcPts val="4800"/>
              </a:lnSpc>
              <a:buNone/>
            </a:pPr>
            <a:r>
              <a:rPr lang="en-US" sz="3850" dirty="0">
                <a:solidFill>
                  <a:srgbClr val="505468"/>
                </a:solidFill>
                <a:latin typeface="Instrument Sans Semi Bold" pitchFamily="34" charset="0"/>
                <a:ea typeface="Instrument Sans Semi Bold" pitchFamily="34" charset="-122"/>
                <a:cs typeface="Instrument Sans Semi Bold" pitchFamily="34" charset="-120"/>
              </a:rPr>
              <a:t>Project Objectives</a:t>
            </a:r>
            <a:endParaRPr lang="en-US" sz="3850" dirty="0"/>
          </a:p>
        </p:txBody>
      </p:sp>
      <p:sp>
        <p:nvSpPr>
          <p:cNvPr id="3" name="Text 1"/>
          <p:cNvSpPr/>
          <p:nvPr/>
        </p:nvSpPr>
        <p:spPr>
          <a:xfrm>
            <a:off x="685324" y="1541740"/>
            <a:ext cx="13259753" cy="313373"/>
          </a:xfrm>
          <a:prstGeom prst="rect">
            <a:avLst/>
          </a:prstGeom>
          <a:noFill/>
          <a:ln/>
        </p:spPr>
        <p:txBody>
          <a:bodyPr wrap="none" lIns="0" tIns="0" rIns="0" bIns="0" rtlCol="0" anchor="t"/>
          <a:lstStyle/>
          <a:p>
            <a:pPr marL="0" indent="0" algn="l">
              <a:lnSpc>
                <a:spcPts val="2450"/>
              </a:lnSpc>
              <a:buNone/>
            </a:pPr>
            <a:r>
              <a:rPr lang="en-US" sz="1500" dirty="0">
                <a:solidFill>
                  <a:srgbClr val="5B5F71"/>
                </a:solidFill>
                <a:latin typeface="Instrument Sans Medium" pitchFamily="34" charset="0"/>
                <a:ea typeface="Instrument Sans Medium" pitchFamily="34" charset="-122"/>
                <a:cs typeface="Instrument Sans Medium" pitchFamily="34" charset="-120"/>
              </a:rPr>
              <a:t>Our project set out to achieve specific, measurable goals to deliver a comprehensive and intelligent library management system.</a:t>
            </a:r>
            <a:endParaRPr lang="en-US" sz="1500" dirty="0"/>
          </a:p>
        </p:txBody>
      </p:sp>
      <p:sp>
        <p:nvSpPr>
          <p:cNvPr id="4" name="Shape 2"/>
          <p:cNvSpPr/>
          <p:nvPr/>
        </p:nvSpPr>
        <p:spPr>
          <a:xfrm>
            <a:off x="685324" y="2075378"/>
            <a:ext cx="6532007" cy="2553295"/>
          </a:xfrm>
          <a:prstGeom prst="roundRect">
            <a:avLst>
              <a:gd name="adj" fmla="val 3221"/>
            </a:avLst>
          </a:prstGeom>
          <a:solidFill>
            <a:srgbClr val="E2E3E9"/>
          </a:solidFill>
          <a:ln w="7620">
            <a:solidFill>
              <a:srgbClr val="C8C9CF"/>
            </a:solidFill>
            <a:prstDash val="solid"/>
          </a:ln>
        </p:spPr>
      </p:sp>
      <p:pic>
        <p:nvPicPr>
          <p:cNvPr id="5" name="Image 0" descr="preencoded.png"/>
          <p:cNvPicPr>
            <a:picLocks noChangeAspect="1"/>
          </p:cNvPicPr>
          <p:nvPr/>
        </p:nvPicPr>
        <p:blipFill>
          <a:blip r:embed="rId3"/>
          <a:stretch>
            <a:fillRect/>
          </a:stretch>
        </p:blipFill>
        <p:spPr>
          <a:xfrm>
            <a:off x="888683" y="2278737"/>
            <a:ext cx="587335" cy="587335"/>
          </a:xfrm>
          <a:prstGeom prst="rect">
            <a:avLst/>
          </a:prstGeom>
        </p:spPr>
      </p:pic>
      <p:pic>
        <p:nvPicPr>
          <p:cNvPr id="6" name="Image 1" descr="preencoded.png"/>
          <p:cNvPicPr>
            <a:picLocks noChangeAspect="1"/>
          </p:cNvPicPr>
          <p:nvPr/>
        </p:nvPicPr>
        <p:blipFill>
          <a:blip r:embed="rId4"/>
          <a:stretch>
            <a:fillRect/>
          </a:stretch>
        </p:blipFill>
        <p:spPr>
          <a:xfrm>
            <a:off x="1050131" y="2407206"/>
            <a:ext cx="264319" cy="330398"/>
          </a:xfrm>
          <a:prstGeom prst="rect">
            <a:avLst/>
          </a:prstGeom>
        </p:spPr>
      </p:pic>
      <p:sp>
        <p:nvSpPr>
          <p:cNvPr id="7" name="Text 3"/>
          <p:cNvSpPr/>
          <p:nvPr/>
        </p:nvSpPr>
        <p:spPr>
          <a:xfrm>
            <a:off x="888683" y="3061811"/>
            <a:ext cx="3494246" cy="305991"/>
          </a:xfrm>
          <a:prstGeom prst="rect">
            <a:avLst/>
          </a:prstGeom>
          <a:noFill/>
          <a:ln/>
        </p:spPr>
        <p:txBody>
          <a:bodyPr wrap="none" lIns="0" tIns="0" rIns="0" bIns="0" rtlCol="0" anchor="t"/>
          <a:lstStyle/>
          <a:p>
            <a:pPr marL="0" indent="0" algn="l">
              <a:lnSpc>
                <a:spcPts val="2400"/>
              </a:lnSpc>
              <a:buNone/>
            </a:pPr>
            <a:r>
              <a:rPr lang="en-US" sz="1900" dirty="0">
                <a:solidFill>
                  <a:srgbClr val="5B5F71"/>
                </a:solidFill>
                <a:latin typeface="Instrument Sans Semi Bold" pitchFamily="34" charset="0"/>
                <a:ea typeface="Instrument Sans Semi Bold" pitchFamily="34" charset="-122"/>
                <a:cs typeface="Instrument Sans Semi Bold" pitchFamily="34" charset="-120"/>
              </a:rPr>
              <a:t>Secure IoT Kiosk Development</a:t>
            </a:r>
            <a:endParaRPr lang="en-US" sz="1900" dirty="0"/>
          </a:p>
        </p:txBody>
      </p:sp>
      <p:sp>
        <p:nvSpPr>
          <p:cNvPr id="8" name="Text 4"/>
          <p:cNvSpPr/>
          <p:nvPr/>
        </p:nvSpPr>
        <p:spPr>
          <a:xfrm>
            <a:off x="888683" y="3485198"/>
            <a:ext cx="6125289" cy="940118"/>
          </a:xfrm>
          <a:prstGeom prst="rect">
            <a:avLst/>
          </a:prstGeom>
          <a:noFill/>
          <a:ln/>
        </p:spPr>
        <p:txBody>
          <a:bodyPr wrap="square" lIns="0" tIns="0" rIns="0" bIns="0" rtlCol="0" anchor="t"/>
          <a:lstStyle/>
          <a:p>
            <a:pPr marL="0" indent="0" algn="l">
              <a:lnSpc>
                <a:spcPts val="2450"/>
              </a:lnSpc>
              <a:buNone/>
            </a:pPr>
            <a:r>
              <a:rPr lang="en-US" sz="1500" dirty="0">
                <a:solidFill>
                  <a:srgbClr val="5B5F71"/>
                </a:solidFill>
                <a:latin typeface="Instrument Sans Medium" pitchFamily="34" charset="0"/>
                <a:ea typeface="Instrument Sans Medium" pitchFamily="34" charset="-122"/>
                <a:cs typeface="Instrument Sans Medium" pitchFamily="34" charset="-120"/>
              </a:rPr>
              <a:t>To develop a robust and secure IoT kiosk utilizing Arduino and RFID technology for seamless physical authentication of users and transactions.</a:t>
            </a:r>
            <a:endParaRPr lang="en-US" sz="1500" dirty="0"/>
          </a:p>
        </p:txBody>
      </p:sp>
      <p:sp>
        <p:nvSpPr>
          <p:cNvPr id="9" name="Shape 5"/>
          <p:cNvSpPr/>
          <p:nvPr/>
        </p:nvSpPr>
        <p:spPr>
          <a:xfrm>
            <a:off x="7413069" y="2075378"/>
            <a:ext cx="6532007" cy="2553295"/>
          </a:xfrm>
          <a:prstGeom prst="roundRect">
            <a:avLst>
              <a:gd name="adj" fmla="val 3221"/>
            </a:avLst>
          </a:prstGeom>
          <a:solidFill>
            <a:srgbClr val="E2E3E9"/>
          </a:solidFill>
          <a:ln w="7620">
            <a:solidFill>
              <a:srgbClr val="C8C9CF"/>
            </a:solidFill>
            <a:prstDash val="solid"/>
          </a:ln>
        </p:spPr>
      </p:sp>
      <p:pic>
        <p:nvPicPr>
          <p:cNvPr id="10" name="Image 2" descr="preencoded.png"/>
          <p:cNvPicPr>
            <a:picLocks noChangeAspect="1"/>
          </p:cNvPicPr>
          <p:nvPr/>
        </p:nvPicPr>
        <p:blipFill>
          <a:blip r:embed="rId5"/>
          <a:stretch>
            <a:fillRect/>
          </a:stretch>
        </p:blipFill>
        <p:spPr>
          <a:xfrm>
            <a:off x="7616428" y="2278737"/>
            <a:ext cx="587335" cy="587335"/>
          </a:xfrm>
          <a:prstGeom prst="rect">
            <a:avLst/>
          </a:prstGeom>
        </p:spPr>
      </p:pic>
      <p:pic>
        <p:nvPicPr>
          <p:cNvPr id="11" name="Image 3" descr="preencoded.png"/>
          <p:cNvPicPr>
            <a:picLocks noChangeAspect="1"/>
          </p:cNvPicPr>
          <p:nvPr/>
        </p:nvPicPr>
        <p:blipFill>
          <a:blip r:embed="rId6"/>
          <a:stretch>
            <a:fillRect/>
          </a:stretch>
        </p:blipFill>
        <p:spPr>
          <a:xfrm>
            <a:off x="7777877" y="2407206"/>
            <a:ext cx="264319" cy="330398"/>
          </a:xfrm>
          <a:prstGeom prst="rect">
            <a:avLst/>
          </a:prstGeom>
        </p:spPr>
      </p:pic>
      <p:sp>
        <p:nvSpPr>
          <p:cNvPr id="12" name="Text 6"/>
          <p:cNvSpPr/>
          <p:nvPr/>
        </p:nvSpPr>
        <p:spPr>
          <a:xfrm>
            <a:off x="7616428" y="3061811"/>
            <a:ext cx="2909649" cy="305991"/>
          </a:xfrm>
          <a:prstGeom prst="rect">
            <a:avLst/>
          </a:prstGeom>
          <a:noFill/>
          <a:ln/>
        </p:spPr>
        <p:txBody>
          <a:bodyPr wrap="none" lIns="0" tIns="0" rIns="0" bIns="0" rtlCol="0" anchor="t"/>
          <a:lstStyle/>
          <a:p>
            <a:pPr marL="0" indent="0" algn="l">
              <a:lnSpc>
                <a:spcPts val="2400"/>
              </a:lnSpc>
              <a:buNone/>
            </a:pPr>
            <a:r>
              <a:rPr lang="en-US" sz="1900" dirty="0">
                <a:solidFill>
                  <a:srgbClr val="5B5F71"/>
                </a:solidFill>
                <a:latin typeface="Instrument Sans Semi Bold" pitchFamily="34" charset="0"/>
                <a:ea typeface="Instrument Sans Semi Bold" pitchFamily="34" charset="-122"/>
                <a:cs typeface="Instrument Sans Semi Bold" pitchFamily="34" charset="-120"/>
              </a:rPr>
              <a:t>Robust Backend Creation</a:t>
            </a:r>
            <a:endParaRPr lang="en-US" sz="1900" dirty="0"/>
          </a:p>
        </p:txBody>
      </p:sp>
      <p:sp>
        <p:nvSpPr>
          <p:cNvPr id="13" name="Text 7"/>
          <p:cNvSpPr/>
          <p:nvPr/>
        </p:nvSpPr>
        <p:spPr>
          <a:xfrm>
            <a:off x="7616428" y="3485198"/>
            <a:ext cx="6125289" cy="940118"/>
          </a:xfrm>
          <a:prstGeom prst="rect">
            <a:avLst/>
          </a:prstGeom>
          <a:noFill/>
          <a:ln/>
        </p:spPr>
        <p:txBody>
          <a:bodyPr wrap="square" lIns="0" tIns="0" rIns="0" bIns="0" rtlCol="0" anchor="t"/>
          <a:lstStyle/>
          <a:p>
            <a:pPr marL="0" indent="0" algn="l">
              <a:lnSpc>
                <a:spcPts val="2450"/>
              </a:lnSpc>
              <a:buNone/>
            </a:pPr>
            <a:r>
              <a:rPr lang="en-US" sz="1500" dirty="0">
                <a:solidFill>
                  <a:srgbClr val="5B5F71"/>
                </a:solidFill>
                <a:latin typeface="Instrument Sans Medium" pitchFamily="34" charset="0"/>
                <a:ea typeface="Instrument Sans Medium" pitchFamily="34" charset="-122"/>
                <a:cs typeface="Instrument Sans Medium" pitchFamily="34" charset="-120"/>
              </a:rPr>
              <a:t>To build a scalable and efficient backend infrastructure using Python and Flask, capable of handling all transaction logic and data management.</a:t>
            </a:r>
            <a:endParaRPr lang="en-US" sz="1500" dirty="0"/>
          </a:p>
        </p:txBody>
      </p:sp>
      <p:sp>
        <p:nvSpPr>
          <p:cNvPr id="14" name="Shape 8"/>
          <p:cNvSpPr/>
          <p:nvPr/>
        </p:nvSpPr>
        <p:spPr>
          <a:xfrm>
            <a:off x="685324" y="4824413"/>
            <a:ext cx="6532007" cy="2866668"/>
          </a:xfrm>
          <a:prstGeom prst="roundRect">
            <a:avLst>
              <a:gd name="adj" fmla="val 2869"/>
            </a:avLst>
          </a:prstGeom>
          <a:solidFill>
            <a:srgbClr val="E2E3E9"/>
          </a:solidFill>
          <a:ln w="7620">
            <a:solidFill>
              <a:srgbClr val="C8C9CF"/>
            </a:solidFill>
            <a:prstDash val="solid"/>
          </a:ln>
        </p:spPr>
      </p:sp>
      <p:pic>
        <p:nvPicPr>
          <p:cNvPr id="15" name="Image 4" descr="preencoded.png"/>
          <p:cNvPicPr>
            <a:picLocks noChangeAspect="1"/>
          </p:cNvPicPr>
          <p:nvPr/>
        </p:nvPicPr>
        <p:blipFill>
          <a:blip r:embed="rId7"/>
          <a:stretch>
            <a:fillRect/>
          </a:stretch>
        </p:blipFill>
        <p:spPr>
          <a:xfrm>
            <a:off x="888683" y="5027771"/>
            <a:ext cx="587335" cy="587335"/>
          </a:xfrm>
          <a:prstGeom prst="rect">
            <a:avLst/>
          </a:prstGeom>
        </p:spPr>
      </p:pic>
      <p:pic>
        <p:nvPicPr>
          <p:cNvPr id="16" name="Image 5" descr="preencoded.png"/>
          <p:cNvPicPr>
            <a:picLocks noChangeAspect="1"/>
          </p:cNvPicPr>
          <p:nvPr/>
        </p:nvPicPr>
        <p:blipFill>
          <a:blip r:embed="rId8"/>
          <a:stretch>
            <a:fillRect/>
          </a:stretch>
        </p:blipFill>
        <p:spPr>
          <a:xfrm>
            <a:off x="1050131" y="5156240"/>
            <a:ext cx="264319" cy="330398"/>
          </a:xfrm>
          <a:prstGeom prst="rect">
            <a:avLst/>
          </a:prstGeom>
        </p:spPr>
      </p:pic>
      <p:sp>
        <p:nvSpPr>
          <p:cNvPr id="17" name="Text 9"/>
          <p:cNvSpPr/>
          <p:nvPr/>
        </p:nvSpPr>
        <p:spPr>
          <a:xfrm>
            <a:off x="888683" y="5810845"/>
            <a:ext cx="2447568" cy="305991"/>
          </a:xfrm>
          <a:prstGeom prst="rect">
            <a:avLst/>
          </a:prstGeom>
          <a:noFill/>
          <a:ln/>
        </p:spPr>
        <p:txBody>
          <a:bodyPr wrap="none" lIns="0" tIns="0" rIns="0" bIns="0" rtlCol="0" anchor="t"/>
          <a:lstStyle/>
          <a:p>
            <a:pPr marL="0" indent="0" algn="l">
              <a:lnSpc>
                <a:spcPts val="2400"/>
              </a:lnSpc>
              <a:buNone/>
            </a:pPr>
            <a:r>
              <a:rPr lang="en-US" sz="1900" dirty="0">
                <a:solidFill>
                  <a:srgbClr val="5B5F71"/>
                </a:solidFill>
                <a:latin typeface="Instrument Sans Semi Bold" pitchFamily="34" charset="0"/>
                <a:ea typeface="Instrument Sans Semi Bold" pitchFamily="34" charset="-122"/>
                <a:cs typeface="Instrument Sans Semi Bold" pitchFamily="34" charset="-120"/>
              </a:rPr>
              <a:t>Dynamic Web Portal</a:t>
            </a:r>
            <a:endParaRPr lang="en-US" sz="1900" dirty="0"/>
          </a:p>
        </p:txBody>
      </p:sp>
      <p:sp>
        <p:nvSpPr>
          <p:cNvPr id="18" name="Text 10"/>
          <p:cNvSpPr/>
          <p:nvPr/>
        </p:nvSpPr>
        <p:spPr>
          <a:xfrm>
            <a:off x="888683" y="6234232"/>
            <a:ext cx="6125289" cy="940118"/>
          </a:xfrm>
          <a:prstGeom prst="rect">
            <a:avLst/>
          </a:prstGeom>
          <a:noFill/>
          <a:ln/>
        </p:spPr>
        <p:txBody>
          <a:bodyPr wrap="square" lIns="0" tIns="0" rIns="0" bIns="0" rtlCol="0" anchor="t"/>
          <a:lstStyle/>
          <a:p>
            <a:pPr marL="0" indent="0" algn="l">
              <a:lnSpc>
                <a:spcPts val="2450"/>
              </a:lnSpc>
              <a:buNone/>
            </a:pPr>
            <a:r>
              <a:rPr lang="en-US" sz="1500" dirty="0">
                <a:solidFill>
                  <a:srgbClr val="5B5F71"/>
                </a:solidFill>
                <a:latin typeface="Instrument Sans Medium" pitchFamily="34" charset="0"/>
                <a:ea typeface="Instrument Sans Medium" pitchFamily="34" charset="-122"/>
                <a:cs typeface="Instrument Sans Medium" pitchFamily="34" charset="-120"/>
              </a:rPr>
              <a:t>To create an intuitive, real-time web portal providing a seamless user experience for book discovery, account management, and transaction initiation.</a:t>
            </a:r>
            <a:endParaRPr lang="en-US" sz="1500" dirty="0"/>
          </a:p>
        </p:txBody>
      </p:sp>
      <p:sp>
        <p:nvSpPr>
          <p:cNvPr id="19" name="Shape 11"/>
          <p:cNvSpPr/>
          <p:nvPr/>
        </p:nvSpPr>
        <p:spPr>
          <a:xfrm>
            <a:off x="7413069" y="4824413"/>
            <a:ext cx="6532007" cy="2866668"/>
          </a:xfrm>
          <a:prstGeom prst="roundRect">
            <a:avLst>
              <a:gd name="adj" fmla="val 2869"/>
            </a:avLst>
          </a:prstGeom>
          <a:solidFill>
            <a:srgbClr val="E2E3E9"/>
          </a:solidFill>
          <a:ln w="7620">
            <a:solidFill>
              <a:srgbClr val="C8C9CF"/>
            </a:solidFill>
            <a:prstDash val="solid"/>
          </a:ln>
        </p:spPr>
      </p:sp>
      <p:pic>
        <p:nvPicPr>
          <p:cNvPr id="20" name="Image 6" descr="preencoded.png"/>
          <p:cNvPicPr>
            <a:picLocks noChangeAspect="1"/>
          </p:cNvPicPr>
          <p:nvPr/>
        </p:nvPicPr>
        <p:blipFill>
          <a:blip r:embed="rId9"/>
          <a:stretch>
            <a:fillRect/>
          </a:stretch>
        </p:blipFill>
        <p:spPr>
          <a:xfrm>
            <a:off x="7616428" y="5027771"/>
            <a:ext cx="587335" cy="587335"/>
          </a:xfrm>
          <a:prstGeom prst="rect">
            <a:avLst/>
          </a:prstGeom>
        </p:spPr>
      </p:pic>
      <p:pic>
        <p:nvPicPr>
          <p:cNvPr id="21" name="Image 7" descr="preencoded.png"/>
          <p:cNvPicPr>
            <a:picLocks noChangeAspect="1"/>
          </p:cNvPicPr>
          <p:nvPr/>
        </p:nvPicPr>
        <p:blipFill>
          <a:blip r:embed="rId10"/>
          <a:stretch>
            <a:fillRect/>
          </a:stretch>
        </p:blipFill>
        <p:spPr>
          <a:xfrm>
            <a:off x="7777877" y="5156240"/>
            <a:ext cx="264319" cy="330398"/>
          </a:xfrm>
          <a:prstGeom prst="rect">
            <a:avLst/>
          </a:prstGeom>
        </p:spPr>
      </p:pic>
      <p:sp>
        <p:nvSpPr>
          <p:cNvPr id="22" name="Text 12"/>
          <p:cNvSpPr/>
          <p:nvPr/>
        </p:nvSpPr>
        <p:spPr>
          <a:xfrm>
            <a:off x="7616428" y="5810845"/>
            <a:ext cx="3169563" cy="305991"/>
          </a:xfrm>
          <a:prstGeom prst="rect">
            <a:avLst/>
          </a:prstGeom>
          <a:noFill/>
          <a:ln/>
        </p:spPr>
        <p:txBody>
          <a:bodyPr wrap="none" lIns="0" tIns="0" rIns="0" bIns="0" rtlCol="0" anchor="t"/>
          <a:lstStyle/>
          <a:p>
            <a:pPr marL="0" indent="0" algn="l">
              <a:lnSpc>
                <a:spcPts val="2400"/>
              </a:lnSpc>
              <a:buNone/>
            </a:pPr>
            <a:r>
              <a:rPr lang="en-US" sz="1900" dirty="0">
                <a:solidFill>
                  <a:srgbClr val="5B5F71"/>
                </a:solidFill>
                <a:latin typeface="Instrument Sans Semi Bold" pitchFamily="34" charset="0"/>
                <a:ea typeface="Instrument Sans Semi Bold" pitchFamily="34" charset="-122"/>
                <a:cs typeface="Instrument Sans Semi Bold" pitchFamily="34" charset="-120"/>
              </a:rPr>
              <a:t>Core Data Science Features</a:t>
            </a:r>
            <a:endParaRPr lang="en-US" sz="1900" dirty="0"/>
          </a:p>
        </p:txBody>
      </p:sp>
      <p:sp>
        <p:nvSpPr>
          <p:cNvPr id="23" name="Text 13"/>
          <p:cNvSpPr/>
          <p:nvPr/>
        </p:nvSpPr>
        <p:spPr>
          <a:xfrm>
            <a:off x="7616428" y="6234232"/>
            <a:ext cx="6125289" cy="1253490"/>
          </a:xfrm>
          <a:prstGeom prst="rect">
            <a:avLst/>
          </a:prstGeom>
          <a:noFill/>
          <a:ln/>
        </p:spPr>
        <p:txBody>
          <a:bodyPr wrap="square" lIns="0" tIns="0" rIns="0" bIns="0" rtlCol="0" anchor="t"/>
          <a:lstStyle/>
          <a:p>
            <a:pPr marL="0" indent="0" algn="l">
              <a:lnSpc>
                <a:spcPts val="2450"/>
              </a:lnSpc>
              <a:buNone/>
            </a:pPr>
            <a:r>
              <a:rPr lang="en-US" sz="1500" dirty="0">
                <a:solidFill>
                  <a:srgbClr val="5B5F71"/>
                </a:solidFill>
                <a:latin typeface="Instrument Sans Medium" pitchFamily="34" charset="0"/>
                <a:ea typeface="Instrument Sans Medium" pitchFamily="34" charset="-122"/>
                <a:cs typeface="Instrument Sans Medium" pitchFamily="34" charset="-120"/>
              </a:rPr>
              <a:t>To implement three key data science functionalities: a Book Recommendation System, Late Return Prediction, and an Answering Chatbot to enhance user engagement and operational intelligence.</a:t>
            </a:r>
            <a:endParaRPr lang="en-US" sz="1500" dirty="0"/>
          </a:p>
        </p:txBody>
      </p:sp>
      <p:pic>
        <p:nvPicPr>
          <p:cNvPr id="24" name="Picture 23">
            <a:extLst>
              <a:ext uri="{FF2B5EF4-FFF2-40B4-BE49-F238E27FC236}">
                <a16:creationId xmlns:a16="http://schemas.microsoft.com/office/drawing/2014/main" id="{E0A0EB67-E859-4690-A0E8-D7A9E0F7F787}"/>
              </a:ext>
            </a:extLst>
          </p:cNvPr>
          <p:cNvPicPr>
            <a:picLocks noChangeAspect="1"/>
          </p:cNvPicPr>
          <p:nvPr/>
        </p:nvPicPr>
        <p:blipFill>
          <a:blip r:embed="rId11"/>
          <a:stretch>
            <a:fillRect/>
          </a:stretch>
        </p:blipFill>
        <p:spPr>
          <a:xfrm>
            <a:off x="12754302" y="7788166"/>
            <a:ext cx="1876097" cy="3783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7442" y="383024"/>
            <a:ext cx="7776448" cy="435293"/>
          </a:xfrm>
          <a:prstGeom prst="rect">
            <a:avLst/>
          </a:prstGeom>
          <a:noFill/>
          <a:ln/>
        </p:spPr>
        <p:txBody>
          <a:bodyPr wrap="none" lIns="0" tIns="0" rIns="0" bIns="0" rtlCol="0" anchor="t"/>
          <a:lstStyle/>
          <a:p>
            <a:pPr marL="0" indent="0" algn="l">
              <a:lnSpc>
                <a:spcPts val="3400"/>
              </a:lnSpc>
              <a:buNone/>
            </a:pPr>
            <a:r>
              <a:rPr lang="en-US" sz="2700" dirty="0">
                <a:solidFill>
                  <a:srgbClr val="505468"/>
                </a:solidFill>
                <a:latin typeface="Instrument Sans Semi Bold" pitchFamily="34" charset="0"/>
                <a:ea typeface="Instrument Sans Semi Bold" pitchFamily="34" charset="-122"/>
                <a:cs typeface="Instrument Sans Semi Bold" pitchFamily="34" charset="-120"/>
              </a:rPr>
              <a:t>System Architecture: How It All Works Together</a:t>
            </a:r>
            <a:endParaRPr lang="en-US" sz="2700" dirty="0"/>
          </a:p>
        </p:txBody>
      </p:sp>
      <p:pic>
        <p:nvPicPr>
          <p:cNvPr id="3" name="Image 0" descr="preencoded.png"/>
          <p:cNvPicPr>
            <a:picLocks noChangeAspect="1"/>
          </p:cNvPicPr>
          <p:nvPr/>
        </p:nvPicPr>
        <p:blipFill>
          <a:blip r:embed="rId3"/>
          <a:stretch>
            <a:fillRect/>
          </a:stretch>
        </p:blipFill>
        <p:spPr>
          <a:xfrm>
            <a:off x="1733907" y="1096804"/>
            <a:ext cx="11162467" cy="7707630"/>
          </a:xfrm>
          <a:prstGeom prst="rect">
            <a:avLst/>
          </a:prstGeom>
        </p:spPr>
      </p:pic>
      <p:pic>
        <p:nvPicPr>
          <p:cNvPr id="4" name="Image 1" descr="preencoded.png"/>
          <p:cNvPicPr>
            <a:picLocks noChangeAspect="1"/>
          </p:cNvPicPr>
          <p:nvPr/>
        </p:nvPicPr>
        <p:blipFill>
          <a:blip r:embed="rId4"/>
          <a:stretch>
            <a:fillRect/>
          </a:stretch>
        </p:blipFill>
        <p:spPr>
          <a:xfrm>
            <a:off x="3448381" y="5052180"/>
            <a:ext cx="409661" cy="409661"/>
          </a:xfrm>
          <a:prstGeom prst="rect">
            <a:avLst/>
          </a:prstGeom>
        </p:spPr>
      </p:pic>
      <p:sp>
        <p:nvSpPr>
          <p:cNvPr id="5" name="Text 1"/>
          <p:cNvSpPr/>
          <p:nvPr/>
        </p:nvSpPr>
        <p:spPr>
          <a:xfrm>
            <a:off x="2119117" y="6882852"/>
            <a:ext cx="3072456" cy="384057"/>
          </a:xfrm>
          <a:prstGeom prst="rect">
            <a:avLst/>
          </a:prstGeom>
          <a:noFill/>
          <a:ln/>
        </p:spPr>
        <p:txBody>
          <a:bodyPr wrap="none" lIns="0" tIns="0" rIns="0" bIns="0" rtlCol="0" anchor="t"/>
          <a:lstStyle/>
          <a:p>
            <a:pPr marL="0" indent="0" algn="ctr">
              <a:lnSpc>
                <a:spcPts val="1650"/>
              </a:lnSpc>
              <a:buNone/>
            </a:pPr>
            <a:r>
              <a:rPr lang="en-US" sz="1350" dirty="0">
                <a:solidFill>
                  <a:srgbClr val="5B5F71"/>
                </a:solidFill>
                <a:latin typeface="Instrument Sans Semi Bold" pitchFamily="34" charset="0"/>
                <a:ea typeface="Instrument Sans Semi Bold" pitchFamily="34" charset="-122"/>
                <a:cs typeface="Instrument Sans Semi Bold" pitchFamily="34" charset="-120"/>
              </a:rPr>
              <a:t>Web Frontend</a:t>
            </a:r>
            <a:endParaRPr lang="en-US" sz="1350" dirty="0"/>
          </a:p>
        </p:txBody>
      </p:sp>
      <p:sp>
        <p:nvSpPr>
          <p:cNvPr id="6" name="Text 2"/>
          <p:cNvSpPr/>
          <p:nvPr/>
        </p:nvSpPr>
        <p:spPr>
          <a:xfrm>
            <a:off x="2009874" y="7376152"/>
            <a:ext cx="3290941" cy="307245"/>
          </a:xfrm>
          <a:prstGeom prst="rect">
            <a:avLst/>
          </a:prstGeom>
          <a:noFill/>
          <a:ln/>
        </p:spPr>
        <p:txBody>
          <a:bodyPr wrap="none" lIns="0" tIns="0" rIns="0" bIns="0" rtlCol="0" anchor="t"/>
          <a:lstStyle/>
          <a:p>
            <a:pPr marL="0" indent="0" algn="ctr">
              <a:lnSpc>
                <a:spcPts val="135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User's device interface</a:t>
            </a:r>
            <a:endParaRPr lang="en-US" sz="1050" dirty="0"/>
          </a:p>
        </p:txBody>
      </p:sp>
      <p:pic>
        <p:nvPicPr>
          <p:cNvPr id="7" name="Image 2" descr="preencoded.png"/>
          <p:cNvPicPr>
            <a:picLocks noChangeAspect="1"/>
          </p:cNvPicPr>
          <p:nvPr/>
        </p:nvPicPr>
        <p:blipFill>
          <a:blip r:embed="rId5"/>
          <a:stretch>
            <a:fillRect/>
          </a:stretch>
        </p:blipFill>
        <p:spPr>
          <a:xfrm>
            <a:off x="5892690" y="4465000"/>
            <a:ext cx="409661" cy="409661"/>
          </a:xfrm>
          <a:prstGeom prst="rect">
            <a:avLst/>
          </a:prstGeom>
        </p:spPr>
      </p:pic>
      <p:sp>
        <p:nvSpPr>
          <p:cNvPr id="8" name="Text 3"/>
          <p:cNvSpPr/>
          <p:nvPr/>
        </p:nvSpPr>
        <p:spPr>
          <a:xfrm>
            <a:off x="4549771" y="2217627"/>
            <a:ext cx="3072455" cy="384057"/>
          </a:xfrm>
          <a:prstGeom prst="rect">
            <a:avLst/>
          </a:prstGeom>
          <a:noFill/>
          <a:ln/>
        </p:spPr>
        <p:txBody>
          <a:bodyPr wrap="none" lIns="0" tIns="0" rIns="0" bIns="0" rtlCol="0" anchor="t"/>
          <a:lstStyle/>
          <a:p>
            <a:pPr marL="0" indent="0" algn="ctr">
              <a:lnSpc>
                <a:spcPts val="1650"/>
              </a:lnSpc>
              <a:buNone/>
            </a:pPr>
            <a:r>
              <a:rPr lang="en-US" sz="1350" dirty="0">
                <a:solidFill>
                  <a:srgbClr val="5B5F71"/>
                </a:solidFill>
                <a:latin typeface="Instrument Sans Semi Bold" pitchFamily="34" charset="0"/>
                <a:ea typeface="Instrument Sans Semi Bold" pitchFamily="34" charset="-122"/>
                <a:cs typeface="Instrument Sans Semi Bold" pitchFamily="34" charset="-120"/>
              </a:rPr>
              <a:t>Flask Backend</a:t>
            </a:r>
            <a:endParaRPr lang="en-US" sz="1350" dirty="0"/>
          </a:p>
        </p:txBody>
      </p:sp>
      <p:sp>
        <p:nvSpPr>
          <p:cNvPr id="9" name="Text 4"/>
          <p:cNvSpPr/>
          <p:nvPr/>
        </p:nvSpPr>
        <p:spPr>
          <a:xfrm>
            <a:off x="4440528" y="2710927"/>
            <a:ext cx="3290941" cy="307246"/>
          </a:xfrm>
          <a:prstGeom prst="rect">
            <a:avLst/>
          </a:prstGeom>
          <a:noFill/>
          <a:ln/>
        </p:spPr>
        <p:txBody>
          <a:bodyPr wrap="none" lIns="0" tIns="0" rIns="0" bIns="0" rtlCol="0" anchor="t"/>
          <a:lstStyle/>
          <a:p>
            <a:pPr marL="0" indent="0" algn="ctr">
              <a:lnSpc>
                <a:spcPts val="135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Server API and logic</a:t>
            </a:r>
            <a:endParaRPr lang="en-US" sz="1050" dirty="0"/>
          </a:p>
        </p:txBody>
      </p:sp>
      <p:pic>
        <p:nvPicPr>
          <p:cNvPr id="10" name="Image 3" descr="preencoded.png"/>
          <p:cNvPicPr>
            <a:picLocks noChangeAspect="1"/>
          </p:cNvPicPr>
          <p:nvPr/>
        </p:nvPicPr>
        <p:blipFill>
          <a:blip r:embed="rId6"/>
          <a:stretch>
            <a:fillRect/>
          </a:stretch>
        </p:blipFill>
        <p:spPr>
          <a:xfrm>
            <a:off x="8336998" y="5052180"/>
            <a:ext cx="409661" cy="409661"/>
          </a:xfrm>
          <a:prstGeom prst="rect">
            <a:avLst/>
          </a:prstGeom>
        </p:spPr>
      </p:pic>
      <p:sp>
        <p:nvSpPr>
          <p:cNvPr id="11" name="Text 5"/>
          <p:cNvSpPr/>
          <p:nvPr/>
        </p:nvSpPr>
        <p:spPr>
          <a:xfrm>
            <a:off x="6994080" y="6882852"/>
            <a:ext cx="3072456" cy="384057"/>
          </a:xfrm>
          <a:prstGeom prst="rect">
            <a:avLst/>
          </a:prstGeom>
          <a:noFill/>
          <a:ln/>
        </p:spPr>
        <p:txBody>
          <a:bodyPr wrap="none" lIns="0" tIns="0" rIns="0" bIns="0" rtlCol="0" anchor="t"/>
          <a:lstStyle/>
          <a:p>
            <a:pPr marL="0" indent="0" algn="ctr">
              <a:lnSpc>
                <a:spcPts val="1650"/>
              </a:lnSpc>
              <a:buNone/>
            </a:pPr>
            <a:r>
              <a:rPr lang="en-US" sz="1350" dirty="0">
                <a:solidFill>
                  <a:srgbClr val="5B5F71"/>
                </a:solidFill>
                <a:latin typeface="Instrument Sans Semi Bold" pitchFamily="34" charset="0"/>
                <a:ea typeface="Instrument Sans Semi Bold" pitchFamily="34" charset="-122"/>
                <a:cs typeface="Instrument Sans Semi Bold" pitchFamily="34" charset="-120"/>
              </a:rPr>
              <a:t>MySQL Database</a:t>
            </a:r>
            <a:endParaRPr lang="en-US" sz="1350" dirty="0"/>
          </a:p>
        </p:txBody>
      </p:sp>
      <p:sp>
        <p:nvSpPr>
          <p:cNvPr id="12" name="Text 6"/>
          <p:cNvSpPr/>
          <p:nvPr/>
        </p:nvSpPr>
        <p:spPr>
          <a:xfrm>
            <a:off x="6884837" y="7376152"/>
            <a:ext cx="3290941" cy="307245"/>
          </a:xfrm>
          <a:prstGeom prst="rect">
            <a:avLst/>
          </a:prstGeom>
          <a:noFill/>
          <a:ln/>
        </p:spPr>
        <p:txBody>
          <a:bodyPr wrap="none" lIns="0" tIns="0" rIns="0" bIns="0" rtlCol="0" anchor="t"/>
          <a:lstStyle/>
          <a:p>
            <a:pPr marL="0" indent="0" algn="ctr">
              <a:lnSpc>
                <a:spcPts val="135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Persistent data store</a:t>
            </a:r>
            <a:endParaRPr lang="en-US" sz="1050" dirty="0"/>
          </a:p>
        </p:txBody>
      </p:sp>
      <p:pic>
        <p:nvPicPr>
          <p:cNvPr id="13" name="Image 4" descr="preencoded.png"/>
          <p:cNvPicPr>
            <a:picLocks noChangeAspect="1"/>
          </p:cNvPicPr>
          <p:nvPr/>
        </p:nvPicPr>
        <p:blipFill>
          <a:blip r:embed="rId7"/>
          <a:stretch>
            <a:fillRect/>
          </a:stretch>
        </p:blipFill>
        <p:spPr>
          <a:xfrm>
            <a:off x="10781308" y="4465000"/>
            <a:ext cx="409661" cy="409661"/>
          </a:xfrm>
          <a:prstGeom prst="rect">
            <a:avLst/>
          </a:prstGeom>
        </p:spPr>
      </p:pic>
      <p:sp>
        <p:nvSpPr>
          <p:cNvPr id="14" name="Text 7"/>
          <p:cNvSpPr/>
          <p:nvPr/>
        </p:nvSpPr>
        <p:spPr>
          <a:xfrm>
            <a:off x="9438389" y="2217627"/>
            <a:ext cx="3072455" cy="384057"/>
          </a:xfrm>
          <a:prstGeom prst="rect">
            <a:avLst/>
          </a:prstGeom>
          <a:noFill/>
          <a:ln/>
        </p:spPr>
        <p:txBody>
          <a:bodyPr wrap="none" lIns="0" tIns="0" rIns="0" bIns="0" rtlCol="0" anchor="t"/>
          <a:lstStyle/>
          <a:p>
            <a:pPr marL="0" indent="0" algn="ctr">
              <a:lnSpc>
                <a:spcPts val="1650"/>
              </a:lnSpc>
              <a:buNone/>
            </a:pPr>
            <a:r>
              <a:rPr lang="en-US" sz="1350" dirty="0">
                <a:solidFill>
                  <a:srgbClr val="5B5F71"/>
                </a:solidFill>
                <a:latin typeface="Instrument Sans Semi Bold" pitchFamily="34" charset="0"/>
                <a:ea typeface="Instrument Sans Semi Bold" pitchFamily="34" charset="-122"/>
                <a:cs typeface="Instrument Sans Semi Bold" pitchFamily="34" charset="-120"/>
              </a:rPr>
              <a:t>IoT Kiosk</a:t>
            </a:r>
            <a:endParaRPr lang="en-US" sz="1350" dirty="0"/>
          </a:p>
        </p:txBody>
      </p:sp>
      <p:sp>
        <p:nvSpPr>
          <p:cNvPr id="15" name="Text 8"/>
          <p:cNvSpPr/>
          <p:nvPr/>
        </p:nvSpPr>
        <p:spPr>
          <a:xfrm>
            <a:off x="9329146" y="2710927"/>
            <a:ext cx="3290941" cy="307246"/>
          </a:xfrm>
          <a:prstGeom prst="rect">
            <a:avLst/>
          </a:prstGeom>
          <a:noFill/>
          <a:ln/>
        </p:spPr>
        <p:txBody>
          <a:bodyPr wrap="none" lIns="0" tIns="0" rIns="0" bIns="0" rtlCol="0" anchor="t"/>
          <a:lstStyle/>
          <a:p>
            <a:pPr marL="0" indent="0" algn="ctr">
              <a:lnSpc>
                <a:spcPts val="135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Arduino + RFID terminal</a:t>
            </a:r>
            <a:endParaRPr lang="en-US" sz="1050" dirty="0"/>
          </a:p>
        </p:txBody>
      </p:sp>
      <p:sp>
        <p:nvSpPr>
          <p:cNvPr id="16" name="Text 9"/>
          <p:cNvSpPr/>
          <p:nvPr/>
        </p:nvSpPr>
        <p:spPr>
          <a:xfrm>
            <a:off x="487442" y="8961120"/>
            <a:ext cx="13655516" cy="668655"/>
          </a:xfrm>
          <a:prstGeom prst="rect">
            <a:avLst/>
          </a:prstGeom>
          <a:noFill/>
          <a:ln/>
        </p:spPr>
        <p:txBody>
          <a:bodyPr wrap="square" lIns="0" tIns="0" rIns="0" bIns="0" rtlCol="0" anchor="t"/>
          <a:lstStyle/>
          <a:p>
            <a:pPr marL="0" indent="0" algn="l">
              <a:lnSpc>
                <a:spcPts val="175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The system architecture illustrates the interconnected components that enable the Automated Library Assistant's functionality. The Web Frontend serves as the user's interface, communicating with the Flask Backend. The Backend, the central processing unit, interacts with both the MySQL Database for data storage and the IoT Kiosk for physical transactions. The IoT Kiosk, equipped with Arduino and RFID, facilitates secure interactions at the physical point of transaction.</a:t>
            </a:r>
            <a:endParaRPr lang="en-US" sz="1050" dirty="0"/>
          </a:p>
        </p:txBody>
      </p:sp>
      <p:pic>
        <p:nvPicPr>
          <p:cNvPr id="17" name="Picture 16">
            <a:extLst>
              <a:ext uri="{FF2B5EF4-FFF2-40B4-BE49-F238E27FC236}">
                <a16:creationId xmlns:a16="http://schemas.microsoft.com/office/drawing/2014/main" id="{0F2A07FA-5F20-46AF-999F-320BF92844D7}"/>
              </a:ext>
            </a:extLst>
          </p:cNvPr>
          <p:cNvPicPr>
            <a:picLocks noChangeAspect="1"/>
          </p:cNvPicPr>
          <p:nvPr/>
        </p:nvPicPr>
        <p:blipFill>
          <a:blip r:embed="rId8"/>
          <a:stretch>
            <a:fillRect/>
          </a:stretch>
        </p:blipFill>
        <p:spPr>
          <a:xfrm>
            <a:off x="12754302" y="7788166"/>
            <a:ext cx="1876097" cy="3783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442" y="383024"/>
            <a:ext cx="7776448" cy="435293"/>
          </a:xfrm>
          <a:prstGeom prst="rect">
            <a:avLst/>
          </a:prstGeom>
          <a:noFill/>
          <a:ln/>
        </p:spPr>
        <p:txBody>
          <a:bodyPr wrap="none" lIns="0" tIns="0" rIns="0" bIns="0" rtlCol="0" anchor="t"/>
          <a:lstStyle/>
          <a:p>
            <a:pPr>
              <a:lnSpc>
                <a:spcPts val="3400"/>
              </a:lnSpc>
            </a:pPr>
            <a:r>
              <a:rPr lang="en-US" sz="2700" dirty="0">
                <a:solidFill>
                  <a:srgbClr val="505468"/>
                </a:solidFill>
                <a:latin typeface="Instrument Sans Semi Bold" pitchFamily="34" charset="0"/>
                <a:ea typeface="Instrument Sans Semi Bold" pitchFamily="34" charset="-122"/>
                <a:cs typeface="Instrument Sans Semi Bold" pitchFamily="34" charset="-120"/>
              </a:rPr>
              <a:t>Workflow / Methodology</a:t>
            </a:r>
            <a:endParaRPr lang="en-US" sz="2700" dirty="0"/>
          </a:p>
        </p:txBody>
      </p:sp>
      <p:pic>
        <p:nvPicPr>
          <p:cNvPr id="3" name="Image 0"/>
          <p:cNvPicPr>
            <a:picLocks noChangeAspect="1"/>
          </p:cNvPicPr>
          <p:nvPr/>
        </p:nvPicPr>
        <p:blipFill>
          <a:blip r:embed="rId3"/>
          <a:stretch>
            <a:fillRect/>
          </a:stretch>
        </p:blipFill>
        <p:spPr>
          <a:xfrm>
            <a:off x="1293153" y="2096041"/>
            <a:ext cx="11603221" cy="5500228"/>
          </a:xfrm>
          <a:prstGeom prst="rect">
            <a:avLst/>
          </a:prstGeom>
        </p:spPr>
      </p:pic>
      <p:pic>
        <p:nvPicPr>
          <p:cNvPr id="4" name="Image 1" descr="preencoded.png"/>
          <p:cNvPicPr>
            <a:picLocks noChangeAspect="1"/>
          </p:cNvPicPr>
          <p:nvPr/>
        </p:nvPicPr>
        <p:blipFill>
          <a:blip r:embed="rId4"/>
          <a:stretch>
            <a:fillRect/>
          </a:stretch>
        </p:blipFill>
        <p:spPr>
          <a:xfrm>
            <a:off x="3448381" y="5052180"/>
            <a:ext cx="409661" cy="409661"/>
          </a:xfrm>
          <a:prstGeom prst="rect">
            <a:avLst/>
          </a:prstGeom>
        </p:spPr>
      </p:pic>
      <p:sp>
        <p:nvSpPr>
          <p:cNvPr id="5" name="Text 1"/>
          <p:cNvSpPr/>
          <p:nvPr/>
        </p:nvSpPr>
        <p:spPr>
          <a:xfrm>
            <a:off x="2119117" y="6882852"/>
            <a:ext cx="3072456" cy="384057"/>
          </a:xfrm>
          <a:prstGeom prst="rect">
            <a:avLst/>
          </a:prstGeom>
          <a:noFill/>
          <a:ln/>
        </p:spPr>
        <p:txBody>
          <a:bodyPr wrap="none" lIns="0" tIns="0" rIns="0" bIns="0" rtlCol="0" anchor="t"/>
          <a:lstStyle/>
          <a:p>
            <a:pPr marL="0" indent="0" algn="ctr">
              <a:lnSpc>
                <a:spcPts val="1650"/>
              </a:lnSpc>
              <a:buNone/>
            </a:pPr>
            <a:endParaRPr lang="en-US" sz="1350" dirty="0"/>
          </a:p>
        </p:txBody>
      </p:sp>
      <p:sp>
        <p:nvSpPr>
          <p:cNvPr id="6" name="Text 2"/>
          <p:cNvSpPr/>
          <p:nvPr/>
        </p:nvSpPr>
        <p:spPr>
          <a:xfrm>
            <a:off x="2009874" y="7376152"/>
            <a:ext cx="3290941" cy="307245"/>
          </a:xfrm>
          <a:prstGeom prst="rect">
            <a:avLst/>
          </a:prstGeom>
          <a:noFill/>
          <a:ln/>
        </p:spPr>
        <p:txBody>
          <a:bodyPr wrap="none" lIns="0" tIns="0" rIns="0" bIns="0" rtlCol="0" anchor="t"/>
          <a:lstStyle/>
          <a:p>
            <a:pPr marL="0" indent="0" algn="ctr">
              <a:lnSpc>
                <a:spcPts val="1350"/>
              </a:lnSpc>
              <a:buNone/>
            </a:pPr>
            <a:endParaRPr lang="en-US" sz="1050" dirty="0"/>
          </a:p>
        </p:txBody>
      </p:sp>
      <p:pic>
        <p:nvPicPr>
          <p:cNvPr id="7" name="Image 2" descr="preencoded.png"/>
          <p:cNvPicPr>
            <a:picLocks noChangeAspect="1"/>
          </p:cNvPicPr>
          <p:nvPr/>
        </p:nvPicPr>
        <p:blipFill>
          <a:blip r:embed="rId5"/>
          <a:stretch>
            <a:fillRect/>
          </a:stretch>
        </p:blipFill>
        <p:spPr>
          <a:xfrm>
            <a:off x="5892690" y="4465000"/>
            <a:ext cx="409661" cy="409661"/>
          </a:xfrm>
          <a:prstGeom prst="rect">
            <a:avLst/>
          </a:prstGeom>
        </p:spPr>
      </p:pic>
      <p:sp>
        <p:nvSpPr>
          <p:cNvPr id="8" name="Text 3"/>
          <p:cNvSpPr/>
          <p:nvPr/>
        </p:nvSpPr>
        <p:spPr>
          <a:xfrm>
            <a:off x="4549771" y="2217627"/>
            <a:ext cx="3072455" cy="384057"/>
          </a:xfrm>
          <a:prstGeom prst="rect">
            <a:avLst/>
          </a:prstGeom>
          <a:noFill/>
          <a:ln/>
        </p:spPr>
        <p:txBody>
          <a:bodyPr wrap="none" lIns="0" tIns="0" rIns="0" bIns="0" rtlCol="0" anchor="t"/>
          <a:lstStyle/>
          <a:p>
            <a:pPr marL="0" indent="0" algn="ctr">
              <a:lnSpc>
                <a:spcPts val="1650"/>
              </a:lnSpc>
              <a:buNone/>
            </a:pPr>
            <a:endParaRPr lang="en-US" sz="1350" dirty="0"/>
          </a:p>
        </p:txBody>
      </p:sp>
      <p:sp>
        <p:nvSpPr>
          <p:cNvPr id="9" name="Text 4"/>
          <p:cNvSpPr/>
          <p:nvPr/>
        </p:nvSpPr>
        <p:spPr>
          <a:xfrm>
            <a:off x="4440528" y="2710927"/>
            <a:ext cx="3290941" cy="307246"/>
          </a:xfrm>
          <a:prstGeom prst="rect">
            <a:avLst/>
          </a:prstGeom>
          <a:noFill/>
          <a:ln/>
        </p:spPr>
        <p:txBody>
          <a:bodyPr wrap="none" lIns="0" tIns="0" rIns="0" bIns="0" rtlCol="0" anchor="t"/>
          <a:lstStyle/>
          <a:p>
            <a:pPr marL="0" indent="0" algn="ctr">
              <a:lnSpc>
                <a:spcPts val="1350"/>
              </a:lnSpc>
              <a:buNone/>
            </a:pPr>
            <a:endParaRPr lang="en-US" sz="1050" dirty="0"/>
          </a:p>
        </p:txBody>
      </p:sp>
      <p:pic>
        <p:nvPicPr>
          <p:cNvPr id="10" name="Image 3" descr="preencoded.png"/>
          <p:cNvPicPr>
            <a:picLocks noChangeAspect="1"/>
          </p:cNvPicPr>
          <p:nvPr/>
        </p:nvPicPr>
        <p:blipFill>
          <a:blip r:embed="rId6"/>
          <a:stretch>
            <a:fillRect/>
          </a:stretch>
        </p:blipFill>
        <p:spPr>
          <a:xfrm>
            <a:off x="8336998" y="5052180"/>
            <a:ext cx="409661" cy="409661"/>
          </a:xfrm>
          <a:prstGeom prst="rect">
            <a:avLst/>
          </a:prstGeom>
        </p:spPr>
      </p:pic>
      <p:sp>
        <p:nvSpPr>
          <p:cNvPr id="11" name="Text 5"/>
          <p:cNvSpPr/>
          <p:nvPr/>
        </p:nvSpPr>
        <p:spPr>
          <a:xfrm>
            <a:off x="6994080" y="6882852"/>
            <a:ext cx="3072456" cy="384057"/>
          </a:xfrm>
          <a:prstGeom prst="rect">
            <a:avLst/>
          </a:prstGeom>
          <a:noFill/>
          <a:ln/>
        </p:spPr>
        <p:txBody>
          <a:bodyPr wrap="none" lIns="0" tIns="0" rIns="0" bIns="0" rtlCol="0" anchor="t"/>
          <a:lstStyle/>
          <a:p>
            <a:pPr marL="0" indent="0" algn="ctr">
              <a:lnSpc>
                <a:spcPts val="1650"/>
              </a:lnSpc>
              <a:buNone/>
            </a:pPr>
            <a:endParaRPr lang="en-US" sz="1350" dirty="0"/>
          </a:p>
        </p:txBody>
      </p:sp>
      <p:sp>
        <p:nvSpPr>
          <p:cNvPr id="12" name="Text 6"/>
          <p:cNvSpPr/>
          <p:nvPr/>
        </p:nvSpPr>
        <p:spPr>
          <a:xfrm>
            <a:off x="6884837" y="7376152"/>
            <a:ext cx="3290941" cy="307245"/>
          </a:xfrm>
          <a:prstGeom prst="rect">
            <a:avLst/>
          </a:prstGeom>
          <a:noFill/>
          <a:ln/>
        </p:spPr>
        <p:txBody>
          <a:bodyPr wrap="none" lIns="0" tIns="0" rIns="0" bIns="0" rtlCol="0" anchor="t"/>
          <a:lstStyle/>
          <a:p>
            <a:pPr marL="0" indent="0" algn="ctr">
              <a:lnSpc>
                <a:spcPts val="1350"/>
              </a:lnSpc>
              <a:buNone/>
            </a:pPr>
            <a:endParaRPr lang="en-US" sz="1050" dirty="0"/>
          </a:p>
        </p:txBody>
      </p:sp>
      <p:pic>
        <p:nvPicPr>
          <p:cNvPr id="13" name="Image 4" descr="preencoded.png"/>
          <p:cNvPicPr>
            <a:picLocks noChangeAspect="1"/>
          </p:cNvPicPr>
          <p:nvPr/>
        </p:nvPicPr>
        <p:blipFill>
          <a:blip r:embed="rId7"/>
          <a:stretch>
            <a:fillRect/>
          </a:stretch>
        </p:blipFill>
        <p:spPr>
          <a:xfrm>
            <a:off x="10781308" y="4465000"/>
            <a:ext cx="409661" cy="409661"/>
          </a:xfrm>
          <a:prstGeom prst="rect">
            <a:avLst/>
          </a:prstGeom>
        </p:spPr>
      </p:pic>
      <p:sp>
        <p:nvSpPr>
          <p:cNvPr id="14" name="Text 7"/>
          <p:cNvSpPr/>
          <p:nvPr/>
        </p:nvSpPr>
        <p:spPr>
          <a:xfrm>
            <a:off x="9438389" y="2217627"/>
            <a:ext cx="3072455" cy="384057"/>
          </a:xfrm>
          <a:prstGeom prst="rect">
            <a:avLst/>
          </a:prstGeom>
          <a:noFill/>
          <a:ln/>
        </p:spPr>
        <p:txBody>
          <a:bodyPr wrap="none" lIns="0" tIns="0" rIns="0" bIns="0" rtlCol="0" anchor="t"/>
          <a:lstStyle/>
          <a:p>
            <a:pPr marL="0" indent="0" algn="ctr">
              <a:lnSpc>
                <a:spcPts val="1650"/>
              </a:lnSpc>
              <a:buNone/>
            </a:pPr>
            <a:endParaRPr lang="en-US" sz="1350" dirty="0"/>
          </a:p>
        </p:txBody>
      </p:sp>
      <p:sp>
        <p:nvSpPr>
          <p:cNvPr id="15" name="Text 8"/>
          <p:cNvSpPr/>
          <p:nvPr/>
        </p:nvSpPr>
        <p:spPr>
          <a:xfrm>
            <a:off x="9329146" y="2710927"/>
            <a:ext cx="3290941" cy="307246"/>
          </a:xfrm>
          <a:prstGeom prst="rect">
            <a:avLst/>
          </a:prstGeom>
          <a:noFill/>
          <a:ln/>
        </p:spPr>
        <p:txBody>
          <a:bodyPr wrap="none" lIns="0" tIns="0" rIns="0" bIns="0" rtlCol="0" anchor="t"/>
          <a:lstStyle/>
          <a:p>
            <a:pPr marL="0" indent="0" algn="ctr">
              <a:lnSpc>
                <a:spcPts val="1350"/>
              </a:lnSpc>
              <a:buNone/>
            </a:pPr>
            <a:endParaRPr lang="en-US" sz="1050" dirty="0"/>
          </a:p>
        </p:txBody>
      </p:sp>
      <p:sp>
        <p:nvSpPr>
          <p:cNvPr id="16" name="Text 9"/>
          <p:cNvSpPr/>
          <p:nvPr/>
        </p:nvSpPr>
        <p:spPr>
          <a:xfrm>
            <a:off x="487442" y="8961120"/>
            <a:ext cx="13655516" cy="668655"/>
          </a:xfrm>
          <a:prstGeom prst="rect">
            <a:avLst/>
          </a:prstGeom>
          <a:noFill/>
          <a:ln/>
        </p:spPr>
        <p:txBody>
          <a:bodyPr wrap="square" lIns="0" tIns="0" rIns="0" bIns="0" rtlCol="0" anchor="t"/>
          <a:lstStyle/>
          <a:p>
            <a:pPr marL="0" indent="0" algn="l">
              <a:lnSpc>
                <a:spcPts val="175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The system architecture illustrates the interconnected components that enable the Automated Library Assistant's functionality. The Web Frontend serves as the user's interface, communicating with the Flask Backend. The Backend, the central processing unit, interacts with both the MySQL Database for data storage and the IoT Kiosk for physical transactions. The IoT Kiosk, equipped with Arduino and RFID, facilitates secure interactions at the physical point of transaction.</a:t>
            </a:r>
            <a:endParaRPr lang="en-US" sz="1050" dirty="0"/>
          </a:p>
        </p:txBody>
      </p:sp>
      <p:pic>
        <p:nvPicPr>
          <p:cNvPr id="17" name="Picture 16">
            <a:extLst>
              <a:ext uri="{FF2B5EF4-FFF2-40B4-BE49-F238E27FC236}">
                <a16:creationId xmlns:a16="http://schemas.microsoft.com/office/drawing/2014/main" id="{0F2A07FA-5F20-46AF-999F-320BF92844D7}"/>
              </a:ext>
            </a:extLst>
          </p:cNvPr>
          <p:cNvPicPr>
            <a:picLocks noChangeAspect="1"/>
          </p:cNvPicPr>
          <p:nvPr/>
        </p:nvPicPr>
        <p:blipFill>
          <a:blip r:embed="rId8"/>
          <a:stretch>
            <a:fillRect/>
          </a:stretch>
        </p:blipFill>
        <p:spPr>
          <a:xfrm>
            <a:off x="12754302" y="7788166"/>
            <a:ext cx="1876097" cy="378372"/>
          </a:xfrm>
          <a:prstGeom prst="rect">
            <a:avLst/>
          </a:prstGeom>
        </p:spPr>
      </p:pic>
    </p:spTree>
    <p:extLst>
      <p:ext uri="{BB962C8B-B14F-4D97-AF65-F5344CB8AC3E}">
        <p14:creationId xmlns:p14="http://schemas.microsoft.com/office/powerpoint/2010/main" val="3020051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675" y="503992"/>
            <a:ext cx="7268766" cy="572095"/>
          </a:xfrm>
          <a:prstGeom prst="rect">
            <a:avLst/>
          </a:prstGeom>
          <a:noFill/>
          <a:ln/>
        </p:spPr>
        <p:txBody>
          <a:bodyPr wrap="none" lIns="0" tIns="0" rIns="0" bIns="0" rtlCol="0" anchor="t"/>
          <a:lstStyle/>
          <a:p>
            <a:pPr marL="0" indent="0" algn="l">
              <a:lnSpc>
                <a:spcPts val="4500"/>
              </a:lnSpc>
              <a:buNone/>
            </a:pPr>
            <a:r>
              <a:rPr lang="en-US" sz="3600" dirty="0">
                <a:solidFill>
                  <a:srgbClr val="505468"/>
                </a:solidFill>
                <a:latin typeface="Instrument Sans Semi Bold" pitchFamily="34" charset="0"/>
                <a:ea typeface="Instrument Sans Semi Bold" pitchFamily="34" charset="-122"/>
                <a:cs typeface="Instrument Sans Semi Bold" pitchFamily="34" charset="-120"/>
              </a:rPr>
              <a:t>The Secure Transaction Workflow</a:t>
            </a:r>
            <a:endParaRPr lang="en-US" sz="3600" dirty="0"/>
          </a:p>
        </p:txBody>
      </p:sp>
      <p:sp>
        <p:nvSpPr>
          <p:cNvPr id="3" name="Text 1"/>
          <p:cNvSpPr/>
          <p:nvPr/>
        </p:nvSpPr>
        <p:spPr>
          <a:xfrm>
            <a:off x="640675" y="1442204"/>
            <a:ext cx="13349049" cy="585788"/>
          </a:xfrm>
          <a:prstGeom prst="rect">
            <a:avLst/>
          </a:prstGeom>
          <a:noFill/>
          <a:ln/>
        </p:spPr>
        <p:txBody>
          <a:bodyPr wrap="square" lIns="0" tIns="0" rIns="0" bIns="0" rtlCol="0" anchor="t"/>
          <a:lstStyle/>
          <a:p>
            <a:pPr marL="0" indent="0" algn="l">
              <a:lnSpc>
                <a:spcPts val="23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Our system employs a carefully designed workflow to ensure secure and efficient borrow/return processes, leveraging RFID for authentication and a temporary access window for enhanced security.</a:t>
            </a:r>
            <a:endParaRPr lang="en-US" sz="1400" dirty="0"/>
          </a:p>
        </p:txBody>
      </p:sp>
      <p:pic>
        <p:nvPicPr>
          <p:cNvPr id="4" name="Image 0" descr="preencoded.png"/>
          <p:cNvPicPr>
            <a:picLocks noChangeAspect="1"/>
          </p:cNvPicPr>
          <p:nvPr/>
        </p:nvPicPr>
        <p:blipFill>
          <a:blip r:embed="rId3"/>
          <a:stretch>
            <a:fillRect/>
          </a:stretch>
        </p:blipFill>
        <p:spPr>
          <a:xfrm>
            <a:off x="640675" y="2233851"/>
            <a:ext cx="915353" cy="1098352"/>
          </a:xfrm>
          <a:prstGeom prst="rect">
            <a:avLst/>
          </a:prstGeom>
        </p:spPr>
      </p:pic>
      <p:sp>
        <p:nvSpPr>
          <p:cNvPr id="5" name="Text 2"/>
          <p:cNvSpPr/>
          <p:nvPr/>
        </p:nvSpPr>
        <p:spPr>
          <a:xfrm>
            <a:off x="1739027" y="2416850"/>
            <a:ext cx="2288381" cy="285988"/>
          </a:xfrm>
          <a:prstGeom prst="rect">
            <a:avLst/>
          </a:prstGeom>
          <a:noFill/>
          <a:ln/>
        </p:spPr>
        <p:txBody>
          <a:bodyPr wrap="none" lIns="0" tIns="0" rIns="0" bIns="0" rtlCol="0" anchor="t"/>
          <a:lstStyle/>
          <a:p>
            <a:pPr marL="0" indent="0" algn="l">
              <a:lnSpc>
                <a:spcPts val="2250"/>
              </a:lnSpc>
              <a:buNone/>
            </a:pPr>
            <a:r>
              <a:rPr lang="en-US" sz="1800" dirty="0">
                <a:solidFill>
                  <a:srgbClr val="5B5F71"/>
                </a:solidFill>
                <a:latin typeface="Instrument Sans Semi Bold" pitchFamily="34" charset="0"/>
                <a:ea typeface="Instrument Sans Semi Bold" pitchFamily="34" charset="-122"/>
                <a:cs typeface="Instrument Sans Semi Bold" pitchFamily="34" charset="-120"/>
              </a:rPr>
              <a:t>1. Login &amp; Navigate</a:t>
            </a:r>
            <a:endParaRPr lang="en-US" sz="1800" dirty="0"/>
          </a:p>
        </p:txBody>
      </p:sp>
      <p:sp>
        <p:nvSpPr>
          <p:cNvPr id="6" name="Text 3"/>
          <p:cNvSpPr/>
          <p:nvPr/>
        </p:nvSpPr>
        <p:spPr>
          <a:xfrm>
            <a:off x="1739027" y="2812613"/>
            <a:ext cx="12250698" cy="292894"/>
          </a:xfrm>
          <a:prstGeom prst="rect">
            <a:avLst/>
          </a:prstGeom>
          <a:noFill/>
          <a:ln/>
        </p:spPr>
        <p:txBody>
          <a:bodyPr wrap="none" lIns="0" tIns="0" rIns="0" bIns="0" rtlCol="0" anchor="t"/>
          <a:lstStyle/>
          <a:p>
            <a:pPr marL="0" indent="0" algn="l">
              <a:lnSpc>
                <a:spcPts val="23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User logs into the web portal via their device and selects the desired transaction (borrow or return).</a:t>
            </a:r>
            <a:endParaRPr lang="en-US" sz="1400" dirty="0"/>
          </a:p>
        </p:txBody>
      </p:sp>
      <p:pic>
        <p:nvPicPr>
          <p:cNvPr id="7" name="Image 1" descr="preencoded.png"/>
          <p:cNvPicPr>
            <a:picLocks noChangeAspect="1"/>
          </p:cNvPicPr>
          <p:nvPr/>
        </p:nvPicPr>
        <p:blipFill>
          <a:blip r:embed="rId4"/>
          <a:stretch>
            <a:fillRect/>
          </a:stretch>
        </p:blipFill>
        <p:spPr>
          <a:xfrm>
            <a:off x="640675" y="3332202"/>
            <a:ext cx="915353" cy="1098352"/>
          </a:xfrm>
          <a:prstGeom prst="rect">
            <a:avLst/>
          </a:prstGeom>
        </p:spPr>
      </p:pic>
      <p:sp>
        <p:nvSpPr>
          <p:cNvPr id="8" name="Text 4"/>
          <p:cNvSpPr/>
          <p:nvPr/>
        </p:nvSpPr>
        <p:spPr>
          <a:xfrm>
            <a:off x="1739027" y="3515201"/>
            <a:ext cx="2288381" cy="285988"/>
          </a:xfrm>
          <a:prstGeom prst="rect">
            <a:avLst/>
          </a:prstGeom>
          <a:noFill/>
          <a:ln/>
        </p:spPr>
        <p:txBody>
          <a:bodyPr wrap="none" lIns="0" tIns="0" rIns="0" bIns="0" rtlCol="0" anchor="t"/>
          <a:lstStyle/>
          <a:p>
            <a:pPr marL="0" indent="0" algn="l">
              <a:lnSpc>
                <a:spcPts val="2250"/>
              </a:lnSpc>
              <a:buNone/>
            </a:pPr>
            <a:r>
              <a:rPr lang="en-US" sz="1800" dirty="0">
                <a:solidFill>
                  <a:srgbClr val="5B5F71"/>
                </a:solidFill>
                <a:latin typeface="Instrument Sans Semi Bold" pitchFamily="34" charset="0"/>
                <a:ea typeface="Instrument Sans Semi Bold" pitchFamily="34" charset="-122"/>
                <a:cs typeface="Instrument Sans Semi Bold" pitchFamily="34" charset="-120"/>
              </a:rPr>
              <a:t>2. Scan Card</a:t>
            </a:r>
            <a:endParaRPr lang="en-US" sz="1800" dirty="0"/>
          </a:p>
        </p:txBody>
      </p:sp>
      <p:sp>
        <p:nvSpPr>
          <p:cNvPr id="9" name="Text 5"/>
          <p:cNvSpPr/>
          <p:nvPr/>
        </p:nvSpPr>
        <p:spPr>
          <a:xfrm>
            <a:off x="1739027" y="3910965"/>
            <a:ext cx="12250698" cy="292894"/>
          </a:xfrm>
          <a:prstGeom prst="rect">
            <a:avLst/>
          </a:prstGeom>
          <a:noFill/>
          <a:ln/>
        </p:spPr>
        <p:txBody>
          <a:bodyPr wrap="none" lIns="0" tIns="0" rIns="0" bIns="0" rtlCol="0" anchor="t"/>
          <a:lstStyle/>
          <a:p>
            <a:pPr marL="0" indent="0" algn="l">
              <a:lnSpc>
                <a:spcPts val="23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To initiate the physical transaction, the user scans their unique RFID card at the IoT kiosk.</a:t>
            </a:r>
            <a:endParaRPr lang="en-US" sz="1400" dirty="0"/>
          </a:p>
        </p:txBody>
      </p:sp>
      <p:pic>
        <p:nvPicPr>
          <p:cNvPr id="10" name="Image 2" descr="preencoded.png"/>
          <p:cNvPicPr>
            <a:picLocks noChangeAspect="1"/>
          </p:cNvPicPr>
          <p:nvPr/>
        </p:nvPicPr>
        <p:blipFill>
          <a:blip r:embed="rId5"/>
          <a:stretch>
            <a:fillRect/>
          </a:stretch>
        </p:blipFill>
        <p:spPr>
          <a:xfrm>
            <a:off x="640675" y="4430554"/>
            <a:ext cx="915353" cy="1098352"/>
          </a:xfrm>
          <a:prstGeom prst="rect">
            <a:avLst/>
          </a:prstGeom>
        </p:spPr>
      </p:pic>
      <p:sp>
        <p:nvSpPr>
          <p:cNvPr id="11" name="Text 6"/>
          <p:cNvSpPr/>
          <p:nvPr/>
        </p:nvSpPr>
        <p:spPr>
          <a:xfrm>
            <a:off x="1739027" y="4613553"/>
            <a:ext cx="2288381" cy="285988"/>
          </a:xfrm>
          <a:prstGeom prst="rect">
            <a:avLst/>
          </a:prstGeom>
          <a:noFill/>
          <a:ln/>
        </p:spPr>
        <p:txBody>
          <a:bodyPr wrap="none" lIns="0" tIns="0" rIns="0" bIns="0" rtlCol="0" anchor="t"/>
          <a:lstStyle/>
          <a:p>
            <a:pPr marL="0" indent="0" algn="l">
              <a:lnSpc>
                <a:spcPts val="2250"/>
              </a:lnSpc>
              <a:buNone/>
            </a:pPr>
            <a:r>
              <a:rPr lang="en-US" sz="1800" dirty="0">
                <a:solidFill>
                  <a:srgbClr val="5B5F71"/>
                </a:solidFill>
                <a:latin typeface="Instrument Sans Semi Bold" pitchFamily="34" charset="0"/>
                <a:ea typeface="Instrument Sans Semi Bold" pitchFamily="34" charset="-122"/>
                <a:cs typeface="Instrument Sans Semi Bold" pitchFamily="34" charset="-120"/>
              </a:rPr>
              <a:t>3. Authorize</a:t>
            </a:r>
            <a:endParaRPr lang="en-US" sz="1800" dirty="0"/>
          </a:p>
        </p:txBody>
      </p:sp>
      <p:sp>
        <p:nvSpPr>
          <p:cNvPr id="12" name="Text 7"/>
          <p:cNvSpPr/>
          <p:nvPr/>
        </p:nvSpPr>
        <p:spPr>
          <a:xfrm>
            <a:off x="1739027" y="5009317"/>
            <a:ext cx="12250698" cy="292894"/>
          </a:xfrm>
          <a:prstGeom prst="rect">
            <a:avLst/>
          </a:prstGeom>
          <a:noFill/>
          <a:ln/>
        </p:spPr>
        <p:txBody>
          <a:bodyPr wrap="none" lIns="0" tIns="0" rIns="0" bIns="0" rtlCol="0" anchor="t"/>
          <a:lstStyle/>
          <a:p>
            <a:pPr marL="0" indent="0" algn="l">
              <a:lnSpc>
                <a:spcPts val="23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Upon successful card scan, the Flask Backend grants a temporary, single-use access window, unlocking the web portal UI for input.</a:t>
            </a:r>
            <a:endParaRPr lang="en-US" sz="1400" dirty="0"/>
          </a:p>
        </p:txBody>
      </p:sp>
      <p:pic>
        <p:nvPicPr>
          <p:cNvPr id="13" name="Image 3" descr="preencoded.png"/>
          <p:cNvPicPr>
            <a:picLocks noChangeAspect="1"/>
          </p:cNvPicPr>
          <p:nvPr/>
        </p:nvPicPr>
        <p:blipFill>
          <a:blip r:embed="rId6"/>
          <a:stretch>
            <a:fillRect/>
          </a:stretch>
        </p:blipFill>
        <p:spPr>
          <a:xfrm>
            <a:off x="640675" y="5528905"/>
            <a:ext cx="915353" cy="1098352"/>
          </a:xfrm>
          <a:prstGeom prst="rect">
            <a:avLst/>
          </a:prstGeom>
        </p:spPr>
      </p:pic>
      <p:sp>
        <p:nvSpPr>
          <p:cNvPr id="14" name="Text 8"/>
          <p:cNvSpPr/>
          <p:nvPr/>
        </p:nvSpPr>
        <p:spPr>
          <a:xfrm>
            <a:off x="1739027" y="5711904"/>
            <a:ext cx="2288381" cy="285988"/>
          </a:xfrm>
          <a:prstGeom prst="rect">
            <a:avLst/>
          </a:prstGeom>
          <a:noFill/>
          <a:ln/>
        </p:spPr>
        <p:txBody>
          <a:bodyPr wrap="none" lIns="0" tIns="0" rIns="0" bIns="0" rtlCol="0" anchor="t"/>
          <a:lstStyle/>
          <a:p>
            <a:pPr marL="0" indent="0" algn="l">
              <a:lnSpc>
                <a:spcPts val="2250"/>
              </a:lnSpc>
              <a:buNone/>
            </a:pPr>
            <a:r>
              <a:rPr lang="en-US" sz="1800" dirty="0">
                <a:solidFill>
                  <a:srgbClr val="5B5F71"/>
                </a:solidFill>
                <a:latin typeface="Instrument Sans Semi Bold" pitchFamily="34" charset="0"/>
                <a:ea typeface="Instrument Sans Semi Bold" pitchFamily="34" charset="-122"/>
                <a:cs typeface="Instrument Sans Semi Bold" pitchFamily="34" charset="-120"/>
              </a:rPr>
              <a:t>4. Enter Book ID</a:t>
            </a:r>
            <a:endParaRPr lang="en-US" sz="1800" dirty="0"/>
          </a:p>
        </p:txBody>
      </p:sp>
      <p:sp>
        <p:nvSpPr>
          <p:cNvPr id="15" name="Text 9"/>
          <p:cNvSpPr/>
          <p:nvPr/>
        </p:nvSpPr>
        <p:spPr>
          <a:xfrm>
            <a:off x="1739027" y="6107668"/>
            <a:ext cx="12250698" cy="292894"/>
          </a:xfrm>
          <a:prstGeom prst="rect">
            <a:avLst/>
          </a:prstGeom>
          <a:noFill/>
          <a:ln/>
        </p:spPr>
        <p:txBody>
          <a:bodyPr wrap="none" lIns="0" tIns="0" rIns="0" bIns="0" rtlCol="0" anchor="t"/>
          <a:lstStyle/>
          <a:p>
            <a:pPr marL="0" indent="0" algn="l">
              <a:lnSpc>
                <a:spcPts val="23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The user enters the Book ID(s) directly into the now-active web portal interface.</a:t>
            </a:r>
            <a:endParaRPr lang="en-US" sz="1400" dirty="0"/>
          </a:p>
        </p:txBody>
      </p:sp>
      <p:pic>
        <p:nvPicPr>
          <p:cNvPr id="16" name="Image 4" descr="preencoded.png"/>
          <p:cNvPicPr>
            <a:picLocks noChangeAspect="1"/>
          </p:cNvPicPr>
          <p:nvPr/>
        </p:nvPicPr>
        <p:blipFill>
          <a:blip r:embed="rId7"/>
          <a:stretch>
            <a:fillRect/>
          </a:stretch>
        </p:blipFill>
        <p:spPr>
          <a:xfrm>
            <a:off x="640675" y="6627257"/>
            <a:ext cx="915353" cy="1098352"/>
          </a:xfrm>
          <a:prstGeom prst="rect">
            <a:avLst/>
          </a:prstGeom>
        </p:spPr>
      </p:pic>
      <p:sp>
        <p:nvSpPr>
          <p:cNvPr id="17" name="Text 10"/>
          <p:cNvSpPr/>
          <p:nvPr/>
        </p:nvSpPr>
        <p:spPr>
          <a:xfrm>
            <a:off x="1739027" y="6810256"/>
            <a:ext cx="2288381" cy="285988"/>
          </a:xfrm>
          <a:prstGeom prst="rect">
            <a:avLst/>
          </a:prstGeom>
          <a:noFill/>
          <a:ln/>
        </p:spPr>
        <p:txBody>
          <a:bodyPr wrap="none" lIns="0" tIns="0" rIns="0" bIns="0" rtlCol="0" anchor="t"/>
          <a:lstStyle/>
          <a:p>
            <a:pPr marL="0" indent="0" algn="l">
              <a:lnSpc>
                <a:spcPts val="2250"/>
              </a:lnSpc>
              <a:buNone/>
            </a:pPr>
            <a:r>
              <a:rPr lang="en-US" sz="1800" dirty="0">
                <a:solidFill>
                  <a:srgbClr val="5B5F71"/>
                </a:solidFill>
                <a:latin typeface="Instrument Sans Semi Bold" pitchFamily="34" charset="0"/>
                <a:ea typeface="Instrument Sans Semi Bold" pitchFamily="34" charset="-122"/>
                <a:cs typeface="Instrument Sans Semi Bold" pitchFamily="34" charset="-120"/>
              </a:rPr>
              <a:t>5. Confirm</a:t>
            </a:r>
            <a:endParaRPr lang="en-US" sz="1800" dirty="0"/>
          </a:p>
        </p:txBody>
      </p:sp>
      <p:sp>
        <p:nvSpPr>
          <p:cNvPr id="18" name="Text 11"/>
          <p:cNvSpPr/>
          <p:nvPr/>
        </p:nvSpPr>
        <p:spPr>
          <a:xfrm>
            <a:off x="1739027" y="7206020"/>
            <a:ext cx="12250698" cy="292894"/>
          </a:xfrm>
          <a:prstGeom prst="rect">
            <a:avLst/>
          </a:prstGeom>
          <a:noFill/>
          <a:ln/>
        </p:spPr>
        <p:txBody>
          <a:bodyPr wrap="none" lIns="0" tIns="0" rIns="0" bIns="0" rtlCol="0" anchor="t"/>
          <a:lstStyle/>
          <a:p>
            <a:pPr marL="0" indent="0" algn="l">
              <a:lnSpc>
                <a:spcPts val="23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The server processes the transaction, updates the database, and immediately revokes the temporary access window, ensuring security.</a:t>
            </a:r>
            <a:endParaRPr lang="en-US" sz="1400" dirty="0"/>
          </a:p>
        </p:txBody>
      </p:sp>
      <p:pic>
        <p:nvPicPr>
          <p:cNvPr id="19" name="Picture 18">
            <a:extLst>
              <a:ext uri="{FF2B5EF4-FFF2-40B4-BE49-F238E27FC236}">
                <a16:creationId xmlns:a16="http://schemas.microsoft.com/office/drawing/2014/main" id="{362DC4A4-F295-4EA3-9458-11F5EA3EF807}"/>
              </a:ext>
            </a:extLst>
          </p:cNvPr>
          <p:cNvPicPr>
            <a:picLocks noChangeAspect="1"/>
          </p:cNvPicPr>
          <p:nvPr/>
        </p:nvPicPr>
        <p:blipFill>
          <a:blip r:embed="rId8"/>
          <a:stretch>
            <a:fillRect/>
          </a:stretch>
        </p:blipFill>
        <p:spPr>
          <a:xfrm>
            <a:off x="12754302" y="7788166"/>
            <a:ext cx="1876097" cy="3783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5083" y="687705"/>
            <a:ext cx="4751308" cy="593884"/>
          </a:xfrm>
          <a:prstGeom prst="rect">
            <a:avLst/>
          </a:prstGeom>
          <a:noFill/>
          <a:ln/>
        </p:spPr>
        <p:txBody>
          <a:bodyPr wrap="none" lIns="0" tIns="0" rIns="0" bIns="0" rtlCol="0" anchor="t"/>
          <a:lstStyle/>
          <a:p>
            <a:pPr marL="0" indent="0" algn="l">
              <a:lnSpc>
                <a:spcPts val="4650"/>
              </a:lnSpc>
              <a:buNone/>
            </a:pPr>
            <a:r>
              <a:rPr lang="en-US" sz="3700" dirty="0">
                <a:solidFill>
                  <a:srgbClr val="505468"/>
                </a:solidFill>
                <a:latin typeface="Instrument Sans Semi Bold" pitchFamily="34" charset="0"/>
                <a:ea typeface="Instrument Sans Semi Bold" pitchFamily="34" charset="-122"/>
                <a:cs typeface="Instrument Sans Semi Bold" pitchFamily="34" charset="-120"/>
              </a:rPr>
              <a:t>Technology Stack</a:t>
            </a:r>
            <a:endParaRPr lang="en-US" sz="3700" dirty="0"/>
          </a:p>
        </p:txBody>
      </p:sp>
      <p:sp>
        <p:nvSpPr>
          <p:cNvPr id="3" name="Text 1"/>
          <p:cNvSpPr/>
          <p:nvPr/>
        </p:nvSpPr>
        <p:spPr>
          <a:xfrm>
            <a:off x="665083" y="1661636"/>
            <a:ext cx="13300234" cy="607933"/>
          </a:xfrm>
          <a:prstGeom prst="rect">
            <a:avLst/>
          </a:prstGeom>
          <a:noFill/>
          <a:ln/>
        </p:spPr>
        <p:txBody>
          <a:bodyPr wrap="square" lIns="0" tIns="0" rIns="0" bIns="0" rtlCol="0" anchor="t"/>
          <a:lstStyle/>
          <a:p>
            <a:pPr marL="0" indent="0" algn="l">
              <a:lnSpc>
                <a:spcPts val="235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Our project utilizes a robust and modern technology stack, carefully selected to ensure scalability, performance, and ease of development across all components.</a:t>
            </a:r>
            <a:endParaRPr lang="en-US" sz="1450" dirty="0"/>
          </a:p>
        </p:txBody>
      </p:sp>
      <p:pic>
        <p:nvPicPr>
          <p:cNvPr id="4" name="Image 0" descr="preencoded.png"/>
          <p:cNvPicPr>
            <a:picLocks noChangeAspect="1"/>
          </p:cNvPicPr>
          <p:nvPr/>
        </p:nvPicPr>
        <p:blipFill>
          <a:blip r:embed="rId3"/>
          <a:stretch>
            <a:fillRect/>
          </a:stretch>
        </p:blipFill>
        <p:spPr>
          <a:xfrm>
            <a:off x="665083" y="2483287"/>
            <a:ext cx="475059" cy="475059"/>
          </a:xfrm>
          <a:prstGeom prst="rect">
            <a:avLst/>
          </a:prstGeom>
        </p:spPr>
      </p:pic>
      <p:sp>
        <p:nvSpPr>
          <p:cNvPr id="5" name="Text 2"/>
          <p:cNvSpPr/>
          <p:nvPr/>
        </p:nvSpPr>
        <p:spPr>
          <a:xfrm>
            <a:off x="665083" y="3195876"/>
            <a:ext cx="2883456" cy="296823"/>
          </a:xfrm>
          <a:prstGeom prst="rect">
            <a:avLst/>
          </a:prstGeom>
          <a:noFill/>
          <a:ln/>
        </p:spPr>
        <p:txBody>
          <a:bodyPr wrap="none" lIns="0" tIns="0" rIns="0" bIns="0" rtlCol="0" anchor="t"/>
          <a:lstStyle/>
          <a:p>
            <a:pPr marL="0" indent="0" algn="l">
              <a:lnSpc>
                <a:spcPts val="230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Python &amp; Flask (Backend)</a:t>
            </a:r>
            <a:endParaRPr lang="en-US" sz="1850" dirty="0"/>
          </a:p>
        </p:txBody>
      </p:sp>
      <p:sp>
        <p:nvSpPr>
          <p:cNvPr id="6" name="Text 3"/>
          <p:cNvSpPr/>
          <p:nvPr/>
        </p:nvSpPr>
        <p:spPr>
          <a:xfrm>
            <a:off x="665083" y="3606641"/>
            <a:ext cx="4275058" cy="1215866"/>
          </a:xfrm>
          <a:prstGeom prst="rect">
            <a:avLst/>
          </a:prstGeom>
          <a:noFill/>
          <a:ln/>
        </p:spPr>
        <p:txBody>
          <a:bodyPr wrap="square" lIns="0" tIns="0" rIns="0" bIns="0" rtlCol="0" anchor="t"/>
          <a:lstStyle/>
          <a:p>
            <a:pPr marL="0" indent="0" algn="l">
              <a:lnSpc>
                <a:spcPts val="235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Python serves as the primary language for backend logic and data processing, with Flask providing a lightweight and flexible web framework for API development.</a:t>
            </a:r>
            <a:endParaRPr lang="en-US" sz="1450" dirty="0"/>
          </a:p>
        </p:txBody>
      </p:sp>
      <p:pic>
        <p:nvPicPr>
          <p:cNvPr id="7" name="Image 1" descr="preencoded.png"/>
          <p:cNvPicPr>
            <a:picLocks noChangeAspect="1"/>
          </p:cNvPicPr>
          <p:nvPr/>
        </p:nvPicPr>
        <p:blipFill>
          <a:blip r:embed="rId4"/>
          <a:stretch>
            <a:fillRect/>
          </a:stretch>
        </p:blipFill>
        <p:spPr>
          <a:xfrm>
            <a:off x="5177671" y="2483287"/>
            <a:ext cx="475059" cy="475059"/>
          </a:xfrm>
          <a:prstGeom prst="rect">
            <a:avLst/>
          </a:prstGeom>
        </p:spPr>
      </p:pic>
      <p:sp>
        <p:nvSpPr>
          <p:cNvPr id="8" name="Text 4"/>
          <p:cNvSpPr/>
          <p:nvPr/>
        </p:nvSpPr>
        <p:spPr>
          <a:xfrm>
            <a:off x="5177671" y="3195876"/>
            <a:ext cx="3809048" cy="296823"/>
          </a:xfrm>
          <a:prstGeom prst="rect">
            <a:avLst/>
          </a:prstGeom>
          <a:noFill/>
          <a:ln/>
        </p:spPr>
        <p:txBody>
          <a:bodyPr wrap="none" lIns="0" tIns="0" rIns="0" bIns="0" rtlCol="0" anchor="t"/>
          <a:lstStyle/>
          <a:p>
            <a:pPr marL="0" indent="0" algn="l">
              <a:lnSpc>
                <a:spcPts val="230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HTML, CSS, JavaScript (Frontend)</a:t>
            </a:r>
            <a:endParaRPr lang="en-US" sz="1850" dirty="0"/>
          </a:p>
        </p:txBody>
      </p:sp>
      <p:sp>
        <p:nvSpPr>
          <p:cNvPr id="9" name="Text 5"/>
          <p:cNvSpPr/>
          <p:nvPr/>
        </p:nvSpPr>
        <p:spPr>
          <a:xfrm>
            <a:off x="5177671" y="3606641"/>
            <a:ext cx="4275058" cy="911900"/>
          </a:xfrm>
          <a:prstGeom prst="rect">
            <a:avLst/>
          </a:prstGeom>
          <a:noFill/>
          <a:ln/>
        </p:spPr>
        <p:txBody>
          <a:bodyPr wrap="square" lIns="0" tIns="0" rIns="0" bIns="0" rtlCol="0" anchor="t"/>
          <a:lstStyle/>
          <a:p>
            <a:pPr marL="0" indent="0" algn="l">
              <a:lnSpc>
                <a:spcPts val="235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Standard web technologies ensure a responsive and intuitive user interface, providing a seamless experience across various devices.</a:t>
            </a:r>
            <a:endParaRPr lang="en-US" sz="1450" dirty="0"/>
          </a:p>
        </p:txBody>
      </p:sp>
      <p:pic>
        <p:nvPicPr>
          <p:cNvPr id="10" name="Image 2" descr="preencoded.png"/>
          <p:cNvPicPr>
            <a:picLocks noChangeAspect="1"/>
          </p:cNvPicPr>
          <p:nvPr/>
        </p:nvPicPr>
        <p:blipFill>
          <a:blip r:embed="rId5"/>
          <a:stretch>
            <a:fillRect/>
          </a:stretch>
        </p:blipFill>
        <p:spPr>
          <a:xfrm>
            <a:off x="9690259" y="2483287"/>
            <a:ext cx="475059" cy="475059"/>
          </a:xfrm>
          <a:prstGeom prst="rect">
            <a:avLst/>
          </a:prstGeom>
        </p:spPr>
      </p:pic>
      <p:sp>
        <p:nvSpPr>
          <p:cNvPr id="11" name="Text 6"/>
          <p:cNvSpPr/>
          <p:nvPr/>
        </p:nvSpPr>
        <p:spPr>
          <a:xfrm>
            <a:off x="9690259" y="3195876"/>
            <a:ext cx="2375654" cy="296823"/>
          </a:xfrm>
          <a:prstGeom prst="rect">
            <a:avLst/>
          </a:prstGeom>
          <a:noFill/>
          <a:ln/>
        </p:spPr>
        <p:txBody>
          <a:bodyPr wrap="none" lIns="0" tIns="0" rIns="0" bIns="0" rtlCol="0" anchor="t"/>
          <a:lstStyle/>
          <a:p>
            <a:pPr marL="0" indent="0" algn="l">
              <a:lnSpc>
                <a:spcPts val="230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MySQL (Database)</a:t>
            </a:r>
            <a:endParaRPr lang="en-US" sz="1850" dirty="0"/>
          </a:p>
        </p:txBody>
      </p:sp>
      <p:sp>
        <p:nvSpPr>
          <p:cNvPr id="12" name="Text 7"/>
          <p:cNvSpPr/>
          <p:nvPr/>
        </p:nvSpPr>
        <p:spPr>
          <a:xfrm>
            <a:off x="9690259" y="3606641"/>
            <a:ext cx="4275058" cy="1215866"/>
          </a:xfrm>
          <a:prstGeom prst="rect">
            <a:avLst/>
          </a:prstGeom>
          <a:noFill/>
          <a:ln/>
        </p:spPr>
        <p:txBody>
          <a:bodyPr wrap="square" lIns="0" tIns="0" rIns="0" bIns="0" rtlCol="0" anchor="t"/>
          <a:lstStyle/>
          <a:p>
            <a:pPr marL="0" indent="0" algn="l">
              <a:lnSpc>
                <a:spcPts val="235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A powerful relational database management system chosen for its reliability and efficiency in storing and managing extensive library data, including user, book, and transaction records.</a:t>
            </a:r>
            <a:endParaRPr lang="en-US" sz="1450" dirty="0"/>
          </a:p>
        </p:txBody>
      </p:sp>
      <p:pic>
        <p:nvPicPr>
          <p:cNvPr id="13" name="Image 3" descr="preencoded.png"/>
          <p:cNvPicPr>
            <a:picLocks noChangeAspect="1"/>
          </p:cNvPicPr>
          <p:nvPr/>
        </p:nvPicPr>
        <p:blipFill>
          <a:blip r:embed="rId6"/>
          <a:stretch>
            <a:fillRect/>
          </a:stretch>
        </p:blipFill>
        <p:spPr>
          <a:xfrm>
            <a:off x="665083" y="5202555"/>
            <a:ext cx="475059" cy="475059"/>
          </a:xfrm>
          <a:prstGeom prst="rect">
            <a:avLst/>
          </a:prstGeom>
        </p:spPr>
      </p:pic>
      <p:sp>
        <p:nvSpPr>
          <p:cNvPr id="14" name="Text 8"/>
          <p:cNvSpPr/>
          <p:nvPr/>
        </p:nvSpPr>
        <p:spPr>
          <a:xfrm>
            <a:off x="665083" y="5915144"/>
            <a:ext cx="2910959" cy="296823"/>
          </a:xfrm>
          <a:prstGeom prst="rect">
            <a:avLst/>
          </a:prstGeom>
          <a:noFill/>
          <a:ln/>
        </p:spPr>
        <p:txBody>
          <a:bodyPr wrap="none" lIns="0" tIns="0" rIns="0" bIns="0" rtlCol="0" anchor="t"/>
          <a:lstStyle/>
          <a:p>
            <a:pPr marL="0" indent="0" algn="l">
              <a:lnSpc>
                <a:spcPts val="230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Arduino (C++) &amp; RFID (IoT)</a:t>
            </a:r>
            <a:endParaRPr lang="en-US" sz="1850" dirty="0"/>
          </a:p>
        </p:txBody>
      </p:sp>
      <p:sp>
        <p:nvSpPr>
          <p:cNvPr id="15" name="Text 9"/>
          <p:cNvSpPr/>
          <p:nvPr/>
        </p:nvSpPr>
        <p:spPr>
          <a:xfrm>
            <a:off x="665083" y="6325910"/>
            <a:ext cx="4275058" cy="1215866"/>
          </a:xfrm>
          <a:prstGeom prst="rect">
            <a:avLst/>
          </a:prstGeom>
          <a:noFill/>
          <a:ln/>
        </p:spPr>
        <p:txBody>
          <a:bodyPr wrap="square" lIns="0" tIns="0" rIns="0" bIns="0" rtlCol="0" anchor="t"/>
          <a:lstStyle/>
          <a:p>
            <a:pPr marL="0" indent="0" algn="l">
              <a:lnSpc>
                <a:spcPts val="235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Arduino, programmed in C++, controls the IoT kiosk hardware, integrating RFID technology for secure and rapid identification and authentication.</a:t>
            </a:r>
            <a:endParaRPr lang="en-US" sz="1450" dirty="0"/>
          </a:p>
        </p:txBody>
      </p:sp>
      <p:pic>
        <p:nvPicPr>
          <p:cNvPr id="16" name="Image 4" descr="preencoded.png"/>
          <p:cNvPicPr>
            <a:picLocks noChangeAspect="1"/>
          </p:cNvPicPr>
          <p:nvPr/>
        </p:nvPicPr>
        <p:blipFill>
          <a:blip r:embed="rId7"/>
          <a:stretch>
            <a:fillRect/>
          </a:stretch>
        </p:blipFill>
        <p:spPr>
          <a:xfrm>
            <a:off x="5177671" y="5202555"/>
            <a:ext cx="475059" cy="475059"/>
          </a:xfrm>
          <a:prstGeom prst="rect">
            <a:avLst/>
          </a:prstGeom>
        </p:spPr>
      </p:pic>
      <p:sp>
        <p:nvSpPr>
          <p:cNvPr id="17" name="Text 10"/>
          <p:cNvSpPr/>
          <p:nvPr/>
        </p:nvSpPr>
        <p:spPr>
          <a:xfrm>
            <a:off x="5177671" y="5915144"/>
            <a:ext cx="4145994" cy="296823"/>
          </a:xfrm>
          <a:prstGeom prst="rect">
            <a:avLst/>
          </a:prstGeom>
          <a:noFill/>
          <a:ln/>
        </p:spPr>
        <p:txBody>
          <a:bodyPr wrap="none" lIns="0" tIns="0" rIns="0" bIns="0" rtlCol="0" anchor="t"/>
          <a:lstStyle/>
          <a:p>
            <a:pPr marL="0" indent="0" algn="l">
              <a:lnSpc>
                <a:spcPts val="230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Scikit-learn &amp; Jupyter Notebook (ML)</a:t>
            </a:r>
            <a:endParaRPr lang="en-US" sz="1850" dirty="0"/>
          </a:p>
        </p:txBody>
      </p:sp>
      <p:sp>
        <p:nvSpPr>
          <p:cNvPr id="18" name="Text 11"/>
          <p:cNvSpPr/>
          <p:nvPr/>
        </p:nvSpPr>
        <p:spPr>
          <a:xfrm>
            <a:off x="5177671" y="6325910"/>
            <a:ext cx="4275058" cy="1215866"/>
          </a:xfrm>
          <a:prstGeom prst="rect">
            <a:avLst/>
          </a:prstGeom>
          <a:noFill/>
          <a:ln/>
        </p:spPr>
        <p:txBody>
          <a:bodyPr wrap="square" lIns="0" tIns="0" rIns="0" bIns="0" rtlCol="0" anchor="t"/>
          <a:lstStyle/>
          <a:p>
            <a:pPr marL="0" indent="0" algn="l">
              <a:lnSpc>
                <a:spcPts val="235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Scikit-learn facilitates the development of machine learning models, while Jupyter Notebook provides an interactive environment for data analysis and model prototyping.</a:t>
            </a:r>
            <a:endParaRPr lang="en-US" sz="1450" dirty="0"/>
          </a:p>
        </p:txBody>
      </p:sp>
      <p:pic>
        <p:nvPicPr>
          <p:cNvPr id="19" name="Picture 18">
            <a:extLst>
              <a:ext uri="{FF2B5EF4-FFF2-40B4-BE49-F238E27FC236}">
                <a16:creationId xmlns:a16="http://schemas.microsoft.com/office/drawing/2014/main" id="{FCF136AD-04B3-4C60-B698-015D328B0429}"/>
              </a:ext>
            </a:extLst>
          </p:cNvPr>
          <p:cNvPicPr>
            <a:picLocks noChangeAspect="1"/>
          </p:cNvPicPr>
          <p:nvPr/>
        </p:nvPicPr>
        <p:blipFill>
          <a:blip r:embed="rId8"/>
          <a:stretch>
            <a:fillRect/>
          </a:stretch>
        </p:blipFill>
        <p:spPr>
          <a:xfrm>
            <a:off x="12754302" y="7788166"/>
            <a:ext cx="1876097" cy="3783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161336"/>
            <a:ext cx="11471672" cy="708779"/>
          </a:xfrm>
          <a:prstGeom prst="rect">
            <a:avLst/>
          </a:prstGeom>
          <a:noFill/>
          <a:ln/>
        </p:spPr>
        <p:txBody>
          <a:bodyPr wrap="non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Intelligent Features: The Data Science Core</a:t>
            </a:r>
            <a:endParaRPr lang="en-US" sz="4450" dirty="0"/>
          </a:p>
        </p:txBody>
      </p:sp>
      <p:sp>
        <p:nvSpPr>
          <p:cNvPr id="3" name="Text 1"/>
          <p:cNvSpPr/>
          <p:nvPr/>
        </p:nvSpPr>
        <p:spPr>
          <a:xfrm>
            <a:off x="793790" y="232374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Our system's intelligence is powered by three key machine learning models, designed to provide enhanced value and insights to both users and library administrators.</a:t>
            </a:r>
            <a:endParaRPr lang="en-US" sz="1750" dirty="0"/>
          </a:p>
        </p:txBody>
      </p:sp>
      <p:sp>
        <p:nvSpPr>
          <p:cNvPr id="4" name="Shape 2"/>
          <p:cNvSpPr/>
          <p:nvPr/>
        </p:nvSpPr>
        <p:spPr>
          <a:xfrm>
            <a:off x="793790" y="3304699"/>
            <a:ext cx="4196358" cy="3763447"/>
          </a:xfrm>
          <a:prstGeom prst="roundRect">
            <a:avLst>
              <a:gd name="adj" fmla="val 2531"/>
            </a:avLst>
          </a:prstGeom>
          <a:solidFill>
            <a:srgbClr val="FFFFFF">
              <a:alpha val="95000"/>
            </a:srgbClr>
          </a:solidFill>
          <a:ln w="30480">
            <a:solidFill>
              <a:srgbClr val="C8C9CF"/>
            </a:solidFill>
            <a:prstDash val="solid"/>
          </a:ln>
        </p:spPr>
      </p:sp>
      <p:pic>
        <p:nvPicPr>
          <p:cNvPr id="5" name="Image 0" descr="preencoded.png"/>
          <p:cNvPicPr>
            <a:picLocks noChangeAspect="1"/>
          </p:cNvPicPr>
          <p:nvPr/>
        </p:nvPicPr>
        <p:blipFill>
          <a:blip r:embed="rId3"/>
          <a:stretch>
            <a:fillRect/>
          </a:stretch>
        </p:blipFill>
        <p:spPr>
          <a:xfrm>
            <a:off x="688181" y="3199090"/>
            <a:ext cx="272177" cy="272177"/>
          </a:xfrm>
          <a:prstGeom prst="rect">
            <a:avLst/>
          </a:prstGeom>
        </p:spPr>
      </p:pic>
      <p:pic>
        <p:nvPicPr>
          <p:cNvPr id="6" name="Image 1" descr="preencoded.png"/>
          <p:cNvPicPr>
            <a:picLocks noChangeAspect="1"/>
          </p:cNvPicPr>
          <p:nvPr/>
        </p:nvPicPr>
        <p:blipFill>
          <a:blip r:embed="rId3"/>
          <a:stretch>
            <a:fillRect/>
          </a:stretch>
        </p:blipFill>
        <p:spPr>
          <a:xfrm>
            <a:off x="4823579" y="6901577"/>
            <a:ext cx="272177" cy="272177"/>
          </a:xfrm>
          <a:prstGeom prst="rect">
            <a:avLst/>
          </a:prstGeom>
        </p:spPr>
      </p:pic>
      <p:sp>
        <p:nvSpPr>
          <p:cNvPr id="7" name="Text 3"/>
          <p:cNvSpPr/>
          <p:nvPr/>
        </p:nvSpPr>
        <p:spPr>
          <a:xfrm>
            <a:off x="1164431" y="3675340"/>
            <a:ext cx="3455075" cy="708660"/>
          </a:xfrm>
          <a:prstGeom prst="rect">
            <a:avLst/>
          </a:prstGeom>
          <a:noFill/>
          <a:ln/>
        </p:spPr>
        <p:txBody>
          <a:bodyPr wrap="squar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Book Recommendation System</a:t>
            </a:r>
            <a:endParaRPr lang="en-US" sz="2200" dirty="0"/>
          </a:p>
        </p:txBody>
      </p:sp>
      <p:sp>
        <p:nvSpPr>
          <p:cNvPr id="8" name="Text 4"/>
          <p:cNvSpPr/>
          <p:nvPr/>
        </p:nvSpPr>
        <p:spPr>
          <a:xfrm>
            <a:off x="1164431" y="4520089"/>
            <a:ext cx="3455075" cy="2177415"/>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Utilizes collaborative filtering algorithms on historical borrowing data to suggest relevant books, personalizing the discovery experience for each user.</a:t>
            </a:r>
            <a:endParaRPr lang="en-US" sz="1750" dirty="0"/>
          </a:p>
        </p:txBody>
      </p:sp>
      <p:sp>
        <p:nvSpPr>
          <p:cNvPr id="9" name="Shape 5"/>
          <p:cNvSpPr/>
          <p:nvPr/>
        </p:nvSpPr>
        <p:spPr>
          <a:xfrm>
            <a:off x="5216962" y="3304699"/>
            <a:ext cx="4196358" cy="3763447"/>
          </a:xfrm>
          <a:prstGeom prst="roundRect">
            <a:avLst>
              <a:gd name="adj" fmla="val 2531"/>
            </a:avLst>
          </a:prstGeom>
          <a:solidFill>
            <a:srgbClr val="FFFFFF">
              <a:alpha val="95000"/>
            </a:srgbClr>
          </a:solidFill>
          <a:ln w="30480">
            <a:solidFill>
              <a:srgbClr val="C8C9CF"/>
            </a:solidFill>
            <a:prstDash val="solid"/>
          </a:ln>
        </p:spPr>
      </p:sp>
      <p:pic>
        <p:nvPicPr>
          <p:cNvPr id="10" name="Image 2" descr="preencoded.png"/>
          <p:cNvPicPr>
            <a:picLocks noChangeAspect="1"/>
          </p:cNvPicPr>
          <p:nvPr/>
        </p:nvPicPr>
        <p:blipFill>
          <a:blip r:embed="rId3"/>
          <a:stretch>
            <a:fillRect/>
          </a:stretch>
        </p:blipFill>
        <p:spPr>
          <a:xfrm>
            <a:off x="5111353" y="3199090"/>
            <a:ext cx="272177" cy="272177"/>
          </a:xfrm>
          <a:prstGeom prst="rect">
            <a:avLst/>
          </a:prstGeom>
        </p:spPr>
      </p:pic>
      <p:pic>
        <p:nvPicPr>
          <p:cNvPr id="11" name="Image 3" descr="preencoded.png"/>
          <p:cNvPicPr>
            <a:picLocks noChangeAspect="1"/>
          </p:cNvPicPr>
          <p:nvPr/>
        </p:nvPicPr>
        <p:blipFill>
          <a:blip r:embed="rId3"/>
          <a:stretch>
            <a:fillRect/>
          </a:stretch>
        </p:blipFill>
        <p:spPr>
          <a:xfrm>
            <a:off x="9246751" y="6901577"/>
            <a:ext cx="272177" cy="272177"/>
          </a:xfrm>
          <a:prstGeom prst="rect">
            <a:avLst/>
          </a:prstGeom>
        </p:spPr>
      </p:pic>
      <p:sp>
        <p:nvSpPr>
          <p:cNvPr id="12" name="Text 6"/>
          <p:cNvSpPr/>
          <p:nvPr/>
        </p:nvSpPr>
        <p:spPr>
          <a:xfrm>
            <a:off x="5587603" y="3675340"/>
            <a:ext cx="2991326"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Late Return Prediction</a:t>
            </a:r>
            <a:endParaRPr lang="en-US" sz="2200" dirty="0"/>
          </a:p>
        </p:txBody>
      </p:sp>
      <p:sp>
        <p:nvSpPr>
          <p:cNvPr id="13" name="Text 7"/>
          <p:cNvSpPr/>
          <p:nvPr/>
        </p:nvSpPr>
        <p:spPr>
          <a:xfrm>
            <a:off x="5587603" y="4165759"/>
            <a:ext cx="3455075" cy="2177415"/>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A classification model that analyses user borrowing patterns and book attributes to predict the probability of an overdue return, enabling proactive reminders.</a:t>
            </a:r>
            <a:endParaRPr lang="en-US" sz="1750" dirty="0"/>
          </a:p>
        </p:txBody>
      </p:sp>
      <p:sp>
        <p:nvSpPr>
          <p:cNvPr id="14" name="Shape 8"/>
          <p:cNvSpPr/>
          <p:nvPr/>
        </p:nvSpPr>
        <p:spPr>
          <a:xfrm>
            <a:off x="9640133" y="3304699"/>
            <a:ext cx="4196358" cy="3763447"/>
          </a:xfrm>
          <a:prstGeom prst="roundRect">
            <a:avLst>
              <a:gd name="adj" fmla="val 2531"/>
            </a:avLst>
          </a:prstGeom>
          <a:solidFill>
            <a:srgbClr val="FFFFFF">
              <a:alpha val="95000"/>
            </a:srgbClr>
          </a:solidFill>
          <a:ln w="30480">
            <a:solidFill>
              <a:srgbClr val="C8C9CF"/>
            </a:solidFill>
            <a:prstDash val="solid"/>
          </a:ln>
        </p:spPr>
      </p:sp>
      <p:pic>
        <p:nvPicPr>
          <p:cNvPr id="15" name="Image 4" descr="preencoded.png"/>
          <p:cNvPicPr>
            <a:picLocks noChangeAspect="1"/>
          </p:cNvPicPr>
          <p:nvPr/>
        </p:nvPicPr>
        <p:blipFill>
          <a:blip r:embed="rId3"/>
          <a:stretch>
            <a:fillRect/>
          </a:stretch>
        </p:blipFill>
        <p:spPr>
          <a:xfrm>
            <a:off x="9534525" y="3199090"/>
            <a:ext cx="272177" cy="272177"/>
          </a:xfrm>
          <a:prstGeom prst="rect">
            <a:avLst/>
          </a:prstGeom>
        </p:spPr>
      </p:pic>
      <p:pic>
        <p:nvPicPr>
          <p:cNvPr id="16" name="Image 5" descr="preencoded.png"/>
          <p:cNvPicPr>
            <a:picLocks noChangeAspect="1"/>
          </p:cNvPicPr>
          <p:nvPr/>
        </p:nvPicPr>
        <p:blipFill>
          <a:blip r:embed="rId3"/>
          <a:stretch>
            <a:fillRect/>
          </a:stretch>
        </p:blipFill>
        <p:spPr>
          <a:xfrm>
            <a:off x="13669923" y="6901577"/>
            <a:ext cx="272177" cy="272177"/>
          </a:xfrm>
          <a:prstGeom prst="rect">
            <a:avLst/>
          </a:prstGeom>
        </p:spPr>
      </p:pic>
      <p:sp>
        <p:nvSpPr>
          <p:cNvPr id="17" name="Text 9"/>
          <p:cNvSpPr/>
          <p:nvPr/>
        </p:nvSpPr>
        <p:spPr>
          <a:xfrm>
            <a:off x="10010775" y="36753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Library Chatbot</a:t>
            </a:r>
            <a:endParaRPr lang="en-US" sz="2200" dirty="0"/>
          </a:p>
        </p:txBody>
      </p:sp>
      <p:sp>
        <p:nvSpPr>
          <p:cNvPr id="18" name="Text 10"/>
          <p:cNvSpPr/>
          <p:nvPr/>
        </p:nvSpPr>
        <p:spPr>
          <a:xfrm>
            <a:off x="10010775" y="4165759"/>
            <a:ext cx="3455075" cy="2177415"/>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A simple Natural Language Processing (NLP) model developed to answer frequently asked questions regarding library hours, fine policies, and general enquiries.</a:t>
            </a:r>
            <a:endParaRPr lang="en-US" sz="1750" dirty="0"/>
          </a:p>
        </p:txBody>
      </p:sp>
      <p:pic>
        <p:nvPicPr>
          <p:cNvPr id="19" name="Picture 18">
            <a:extLst>
              <a:ext uri="{FF2B5EF4-FFF2-40B4-BE49-F238E27FC236}">
                <a16:creationId xmlns:a16="http://schemas.microsoft.com/office/drawing/2014/main" id="{1ADCD6CD-2F7C-43D8-AB9C-A973C6F26BBA}"/>
              </a:ext>
            </a:extLst>
          </p:cNvPr>
          <p:cNvPicPr>
            <a:picLocks noChangeAspect="1"/>
          </p:cNvPicPr>
          <p:nvPr/>
        </p:nvPicPr>
        <p:blipFill>
          <a:blip r:embed="rId4"/>
          <a:stretch>
            <a:fillRect/>
          </a:stretch>
        </p:blipFill>
        <p:spPr>
          <a:xfrm>
            <a:off x="12754302" y="7788166"/>
            <a:ext cx="1876097" cy="3783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146572"/>
            <a:ext cx="7232928" cy="708779"/>
          </a:xfrm>
          <a:prstGeom prst="rect">
            <a:avLst/>
          </a:prstGeom>
          <a:noFill/>
          <a:ln/>
        </p:spPr>
        <p:txBody>
          <a:bodyPr wrap="non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Conclusion &amp; Future Scope</a:t>
            </a:r>
            <a:endParaRPr lang="en-US" sz="4450" dirty="0"/>
          </a:p>
        </p:txBody>
      </p:sp>
      <p:sp>
        <p:nvSpPr>
          <p:cNvPr id="3" name="Text 1"/>
          <p:cNvSpPr/>
          <p:nvPr/>
        </p:nvSpPr>
        <p:spPr>
          <a:xfrm>
            <a:off x="793790" y="2422327"/>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505468"/>
                </a:solidFill>
                <a:latin typeface="Instrument Sans Semi Bold" pitchFamily="34" charset="0"/>
                <a:ea typeface="Instrument Sans Semi Bold" pitchFamily="34" charset="-122"/>
                <a:cs typeface="Instrument Sans Semi Bold" pitchFamily="34" charset="-120"/>
              </a:rPr>
              <a:t>Conclusion</a:t>
            </a:r>
            <a:endParaRPr lang="en-US" sz="3550" dirty="0"/>
          </a:p>
        </p:txBody>
      </p:sp>
      <p:sp>
        <p:nvSpPr>
          <p:cNvPr id="4" name="Text 2"/>
          <p:cNvSpPr/>
          <p:nvPr/>
        </p:nvSpPr>
        <p:spPr>
          <a:xfrm>
            <a:off x="793790" y="3216116"/>
            <a:ext cx="6244709" cy="1088708"/>
          </a:xfrm>
          <a:prstGeom prst="rect">
            <a:avLst/>
          </a:prstGeom>
          <a:noFill/>
          <a:ln/>
        </p:spPr>
        <p:txBody>
          <a:bodyPr wrap="square" lIns="0" tIns="0" rIns="0" bIns="0" rtlCol="0" anchor="t"/>
          <a:lstStyle/>
          <a:p>
            <a:pPr marL="342900" indent="-342900">
              <a:lnSpc>
                <a:spcPts val="2850"/>
              </a:lnSpc>
              <a:buSzPct val="100000"/>
              <a:buChar char="•"/>
            </a:pPr>
            <a:r>
              <a:rPr lang="en-GB" sz="1750" dirty="0">
                <a:solidFill>
                  <a:srgbClr val="5B5F71"/>
                </a:solidFill>
                <a:latin typeface="Instrument Sans Medium" pitchFamily="34" charset="0"/>
                <a:ea typeface="Instrument Sans Medium" pitchFamily="34" charset="-122"/>
                <a:cs typeface="Instrument Sans Medium" pitchFamily="34" charset="-120"/>
              </a:rPr>
              <a:t>Successfully conceptualized and designed the ‘Automated Library Assistant,’ demonstrating the feasibility of the integrated system</a:t>
            </a:r>
            <a:endParaRPr lang="en-US" sz="1750" dirty="0"/>
          </a:p>
        </p:txBody>
      </p:sp>
      <p:sp>
        <p:nvSpPr>
          <p:cNvPr id="5" name="Text 3"/>
          <p:cNvSpPr/>
          <p:nvPr/>
        </p:nvSpPr>
        <p:spPr>
          <a:xfrm>
            <a:off x="793790" y="4384119"/>
            <a:ext cx="6244709" cy="1088708"/>
          </a:xfrm>
          <a:prstGeom prst="rect">
            <a:avLst/>
          </a:prstGeom>
          <a:noFill/>
          <a:ln/>
        </p:spPr>
        <p:txBody>
          <a:bodyPr wrap="square" lIns="0" tIns="0" rIns="0" bIns="0" rtlCol="0" anchor="t"/>
          <a:lstStyle/>
          <a:p>
            <a:pPr marL="342900" indent="-342900" algn="l">
              <a:lnSpc>
                <a:spcPts val="2850"/>
              </a:lnSpc>
              <a:buSzPct val="100000"/>
              <a:buChar char="•"/>
            </a:pPr>
            <a:r>
              <a:rPr lang="en-US" sz="1750">
                <a:solidFill>
                  <a:srgbClr val="5B5F71"/>
                </a:solidFill>
                <a:latin typeface="Instrument Sans Medium" pitchFamily="34" charset="0"/>
                <a:ea typeface="Instrument Sans Medium" pitchFamily="34" charset="-122"/>
                <a:cs typeface="Instrument Sans Medium" pitchFamily="34" charset="-120"/>
              </a:rPr>
              <a:t>The system significantly improves operational efficiency, enhances security through RFID, and provides a modern, intuitive user experience.</a:t>
            </a:r>
            <a:endParaRPr lang="en-US" sz="1750" dirty="0"/>
          </a:p>
        </p:txBody>
      </p:sp>
      <p:sp>
        <p:nvSpPr>
          <p:cNvPr id="6" name="Text 4"/>
          <p:cNvSpPr/>
          <p:nvPr/>
        </p:nvSpPr>
        <p:spPr>
          <a:xfrm>
            <a:off x="793790" y="5552123"/>
            <a:ext cx="6244709"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B5F71"/>
                </a:solidFill>
                <a:latin typeface="Instrument Sans Medium" pitchFamily="34" charset="0"/>
                <a:ea typeface="Instrument Sans Medium" pitchFamily="34" charset="-122"/>
                <a:cs typeface="Instrument Sans Medium" pitchFamily="34" charset="-120"/>
              </a:rPr>
              <a:t>Seamless integration of IoT hardware with a data-driven web application was achieved, proving the interdisciplinary approach.</a:t>
            </a:r>
            <a:endParaRPr lang="en-US" sz="1750" dirty="0"/>
          </a:p>
        </p:txBody>
      </p:sp>
      <p:sp>
        <p:nvSpPr>
          <p:cNvPr id="7" name="Text 5"/>
          <p:cNvSpPr/>
          <p:nvPr/>
        </p:nvSpPr>
        <p:spPr>
          <a:xfrm>
            <a:off x="7599521" y="2422327"/>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505468"/>
                </a:solidFill>
                <a:latin typeface="Instrument Sans Semi Bold" pitchFamily="34" charset="0"/>
                <a:ea typeface="Instrument Sans Semi Bold" pitchFamily="34" charset="-122"/>
                <a:cs typeface="Instrument Sans Semi Bold" pitchFamily="34" charset="-120"/>
              </a:rPr>
              <a:t>Future Scope</a:t>
            </a:r>
            <a:endParaRPr lang="en-US" sz="3550" dirty="0"/>
          </a:p>
        </p:txBody>
      </p:sp>
      <p:sp>
        <p:nvSpPr>
          <p:cNvPr id="8" name="Text 6"/>
          <p:cNvSpPr/>
          <p:nvPr/>
        </p:nvSpPr>
        <p:spPr>
          <a:xfrm>
            <a:off x="7599521" y="3216116"/>
            <a:ext cx="6244709"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5B5F71"/>
                </a:solidFill>
                <a:latin typeface="Instrument Sans Medium" pitchFamily="34" charset="0"/>
                <a:ea typeface="Instrument Sans Medium" pitchFamily="34" charset="-122"/>
                <a:cs typeface="Instrument Sans Medium" pitchFamily="34" charset="-120"/>
              </a:rPr>
              <a:t>Payment Gateway Integration:</a:t>
            </a:r>
            <a:r>
              <a:rPr lang="en-US" sz="1750" dirty="0">
                <a:solidFill>
                  <a:srgbClr val="5B5F71"/>
                </a:solidFill>
                <a:latin typeface="Instrument Sans Medium" pitchFamily="34" charset="0"/>
                <a:ea typeface="Instrument Sans Medium" pitchFamily="34" charset="-122"/>
                <a:cs typeface="Instrument Sans Medium" pitchFamily="34" charset="-120"/>
              </a:rPr>
              <a:t> Implement a secure payment gateway for seamless online payment of late fees and other charges.</a:t>
            </a:r>
            <a:endParaRPr lang="en-US" sz="1750" dirty="0"/>
          </a:p>
        </p:txBody>
      </p:sp>
      <p:sp>
        <p:nvSpPr>
          <p:cNvPr id="9" name="Text 7"/>
          <p:cNvSpPr/>
          <p:nvPr/>
        </p:nvSpPr>
        <p:spPr>
          <a:xfrm>
            <a:off x="7599521" y="4384119"/>
            <a:ext cx="6244709"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5B5F71"/>
                </a:solidFill>
                <a:latin typeface="Instrument Sans Medium" pitchFamily="34" charset="0"/>
                <a:ea typeface="Instrument Sans Medium" pitchFamily="34" charset="-122"/>
                <a:cs typeface="Instrument Sans Medium" pitchFamily="34" charset="-120"/>
              </a:rPr>
              <a:t>Mobile Application Development:</a:t>
            </a:r>
            <a:r>
              <a:rPr lang="en-US" sz="1750" dirty="0">
                <a:solidFill>
                  <a:srgbClr val="5B5F71"/>
                </a:solidFill>
                <a:latin typeface="Instrument Sans Medium" pitchFamily="34" charset="0"/>
                <a:ea typeface="Instrument Sans Medium" pitchFamily="34" charset="-122"/>
                <a:cs typeface="Instrument Sans Medium" pitchFamily="34" charset="-120"/>
              </a:rPr>
              <a:t> Develop dedicated iOS and Android mobile applications to extend accessibility and user convenience.</a:t>
            </a:r>
            <a:endParaRPr lang="en-US" sz="1750" dirty="0"/>
          </a:p>
        </p:txBody>
      </p:sp>
      <p:sp>
        <p:nvSpPr>
          <p:cNvPr id="10" name="Text 8"/>
          <p:cNvSpPr/>
          <p:nvPr/>
        </p:nvSpPr>
        <p:spPr>
          <a:xfrm>
            <a:off x="7599521" y="5552123"/>
            <a:ext cx="6244709" cy="1451610"/>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5B5F71"/>
                </a:solidFill>
                <a:latin typeface="Instrument Sans Medium" pitchFamily="34" charset="0"/>
                <a:ea typeface="Instrument Sans Medium" pitchFamily="34" charset="-122"/>
                <a:cs typeface="Instrument Sans Medium" pitchFamily="34" charset="-120"/>
              </a:rPr>
              <a:t>Advanced NLP for Chatbot:</a:t>
            </a:r>
            <a:r>
              <a:rPr lang="en-US" sz="1750" dirty="0">
                <a:solidFill>
                  <a:srgbClr val="5B5F71"/>
                </a:solidFill>
                <a:latin typeface="Instrument Sans Medium" pitchFamily="34" charset="0"/>
                <a:ea typeface="Instrument Sans Medium" pitchFamily="34" charset="-122"/>
                <a:cs typeface="Instrument Sans Medium" pitchFamily="34" charset="-120"/>
              </a:rPr>
              <a:t> Expand the chatbot's capabilities using more sophisticated Natural Language Processing models for richer interactions and a wider range of queries.</a:t>
            </a:r>
            <a:endParaRPr lang="en-US" sz="1750" dirty="0"/>
          </a:p>
        </p:txBody>
      </p:sp>
      <p:pic>
        <p:nvPicPr>
          <p:cNvPr id="11" name="Picture 10">
            <a:extLst>
              <a:ext uri="{FF2B5EF4-FFF2-40B4-BE49-F238E27FC236}">
                <a16:creationId xmlns:a16="http://schemas.microsoft.com/office/drawing/2014/main" id="{7FC970DC-25FB-4FE5-844F-E29CC73596B1}"/>
              </a:ext>
            </a:extLst>
          </p:cNvPr>
          <p:cNvPicPr>
            <a:picLocks noChangeAspect="1"/>
          </p:cNvPicPr>
          <p:nvPr/>
        </p:nvPicPr>
        <p:blipFill>
          <a:blip r:embed="rId3"/>
          <a:stretch>
            <a:fillRect/>
          </a:stretch>
        </p:blipFill>
        <p:spPr>
          <a:xfrm>
            <a:off x="12754302" y="7788166"/>
            <a:ext cx="1876097" cy="3783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46572"/>
            <a:ext cx="7232928"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3" name="Text 1"/>
          <p:cNvSpPr/>
          <p:nvPr/>
        </p:nvSpPr>
        <p:spPr>
          <a:xfrm>
            <a:off x="793790" y="2422327"/>
            <a:ext cx="4536519" cy="566976"/>
          </a:xfrm>
          <a:prstGeom prst="rect">
            <a:avLst/>
          </a:prstGeom>
          <a:noFill/>
          <a:ln/>
        </p:spPr>
        <p:txBody>
          <a:bodyPr wrap="none" lIns="0" tIns="0" rIns="0" bIns="0" rtlCol="0" anchor="t"/>
          <a:lstStyle/>
          <a:p>
            <a:pPr marL="0" indent="0" algn="l">
              <a:lnSpc>
                <a:spcPts val="4450"/>
              </a:lnSpc>
              <a:buNone/>
            </a:pPr>
            <a:endParaRPr lang="en-US" sz="3550" dirty="0"/>
          </a:p>
        </p:txBody>
      </p:sp>
      <p:sp>
        <p:nvSpPr>
          <p:cNvPr id="4" name="Text 2"/>
          <p:cNvSpPr/>
          <p:nvPr/>
        </p:nvSpPr>
        <p:spPr>
          <a:xfrm>
            <a:off x="793790" y="3216116"/>
            <a:ext cx="6244709" cy="1088708"/>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5" name="Text 3"/>
          <p:cNvSpPr/>
          <p:nvPr/>
        </p:nvSpPr>
        <p:spPr>
          <a:xfrm>
            <a:off x="793790" y="4384119"/>
            <a:ext cx="6244709" cy="1088708"/>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6" name="Text 4"/>
          <p:cNvSpPr/>
          <p:nvPr/>
        </p:nvSpPr>
        <p:spPr>
          <a:xfrm>
            <a:off x="793790" y="5552123"/>
            <a:ext cx="6244709" cy="1088708"/>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7" name="Text 5"/>
          <p:cNvSpPr/>
          <p:nvPr/>
        </p:nvSpPr>
        <p:spPr>
          <a:xfrm>
            <a:off x="7599521" y="2422327"/>
            <a:ext cx="4536519" cy="566976"/>
          </a:xfrm>
          <a:prstGeom prst="rect">
            <a:avLst/>
          </a:prstGeom>
          <a:noFill/>
          <a:ln/>
        </p:spPr>
        <p:txBody>
          <a:bodyPr wrap="none" lIns="0" tIns="0" rIns="0" bIns="0" rtlCol="0" anchor="t"/>
          <a:lstStyle/>
          <a:p>
            <a:pPr marL="0" indent="0" algn="l">
              <a:lnSpc>
                <a:spcPts val="4450"/>
              </a:lnSpc>
              <a:buNone/>
            </a:pPr>
            <a:endParaRPr lang="en-US" sz="3550" dirty="0"/>
          </a:p>
        </p:txBody>
      </p:sp>
      <p:sp>
        <p:nvSpPr>
          <p:cNvPr id="8" name="Text 6"/>
          <p:cNvSpPr/>
          <p:nvPr/>
        </p:nvSpPr>
        <p:spPr>
          <a:xfrm>
            <a:off x="7599521" y="3216116"/>
            <a:ext cx="6244709" cy="1088708"/>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9" name="Text 7"/>
          <p:cNvSpPr/>
          <p:nvPr/>
        </p:nvSpPr>
        <p:spPr>
          <a:xfrm>
            <a:off x="7599521" y="4384119"/>
            <a:ext cx="6244709" cy="1088708"/>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0" name="Text 8"/>
          <p:cNvSpPr/>
          <p:nvPr/>
        </p:nvSpPr>
        <p:spPr>
          <a:xfrm>
            <a:off x="7599521" y="5552123"/>
            <a:ext cx="6244709" cy="1451610"/>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pic>
        <p:nvPicPr>
          <p:cNvPr id="11" name="Picture 10">
            <a:extLst>
              <a:ext uri="{FF2B5EF4-FFF2-40B4-BE49-F238E27FC236}">
                <a16:creationId xmlns:a16="http://schemas.microsoft.com/office/drawing/2014/main" id="{7FC970DC-25FB-4FE5-844F-E29CC73596B1}"/>
              </a:ext>
            </a:extLst>
          </p:cNvPr>
          <p:cNvPicPr>
            <a:picLocks noChangeAspect="1"/>
          </p:cNvPicPr>
          <p:nvPr/>
        </p:nvPicPr>
        <p:blipFill>
          <a:blip r:embed="rId3"/>
          <a:stretch>
            <a:fillRect/>
          </a:stretch>
        </p:blipFill>
        <p:spPr>
          <a:xfrm>
            <a:off x="12754302" y="7788166"/>
            <a:ext cx="1876097" cy="378372"/>
          </a:xfrm>
          <a:prstGeom prst="rect">
            <a:avLst/>
          </a:prstGeom>
        </p:spPr>
      </p:pic>
      <p:pic>
        <p:nvPicPr>
          <p:cNvPr id="13" name="Picture 12">
            <a:extLst>
              <a:ext uri="{FF2B5EF4-FFF2-40B4-BE49-F238E27FC236}">
                <a16:creationId xmlns:a16="http://schemas.microsoft.com/office/drawing/2014/main" id="{F55035D5-4032-4512-BAE8-B295584E0FD1}"/>
              </a:ext>
            </a:extLst>
          </p:cNvPr>
          <p:cNvPicPr>
            <a:picLocks noChangeAspect="1"/>
          </p:cNvPicPr>
          <p:nvPr/>
        </p:nvPicPr>
        <p:blipFill>
          <a:blip r:embed="rId4"/>
          <a:stretch>
            <a:fillRect/>
          </a:stretch>
        </p:blipFill>
        <p:spPr>
          <a:xfrm>
            <a:off x="2743200" y="1733550"/>
            <a:ext cx="9144000" cy="4762500"/>
          </a:xfrm>
          <a:prstGeom prst="rect">
            <a:avLst/>
          </a:prstGeom>
        </p:spPr>
      </p:pic>
    </p:spTree>
    <p:extLst>
      <p:ext uri="{BB962C8B-B14F-4D97-AF65-F5344CB8AC3E}">
        <p14:creationId xmlns:p14="http://schemas.microsoft.com/office/powerpoint/2010/main" val="3174151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1205</Words>
  <Application>Microsoft Office PowerPoint</Application>
  <PresentationFormat>Custom</PresentationFormat>
  <Paragraphs>99</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JOT</dc:creator>
  <cp:lastModifiedBy>Sarbjot Singh</cp:lastModifiedBy>
  <cp:revision>6</cp:revision>
  <dcterms:created xsi:type="dcterms:W3CDTF">2025-09-06T18:31:32Z</dcterms:created>
  <dcterms:modified xsi:type="dcterms:W3CDTF">2025-09-10T12:29:20Z</dcterms:modified>
</cp:coreProperties>
</file>